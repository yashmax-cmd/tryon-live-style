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3"/>
    <p:sldId id="265" r:id="rId4"/>
    <p:sldId id="264" r:id="rId5"/>
    <p:sldId id="267" r:id="rId6"/>
    <p:sldId id="271" r:id="rId7"/>
    <p:sldId id="258" r:id="rId8"/>
    <p:sldId id="272" r:id="rId9"/>
    <p:sldId id="268" r:id="rId10"/>
    <p:sldId id="260" r:id="rId11"/>
    <p:sldId id="273" r:id="rId12"/>
    <p:sldId id="274" r:id="rId13"/>
    <p:sldId id="261" r:id="rId14"/>
    <p:sldId id="269" r:id="rId15"/>
    <p:sldId id="262" r:id="rId16"/>
    <p:sldId id="275" r:id="rId17"/>
    <p:sldId id="270" r:id="rId18"/>
    <p:sldId id="276" r:id="rId19"/>
    <p:sldId id="277" r:id="rId20"/>
    <p:sldId id="282" r:id="rId21"/>
    <p:sldId id="283" r:id="rId22"/>
    <p:sldId id="284" r:id="rId23"/>
    <p:sldId id="263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EEF"/>
    <a:srgbClr val="193B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66" d="100"/>
          <a:sy n="66" d="100"/>
        </p:scale>
        <p:origin x="1506" y="48"/>
      </p:cViewPr>
      <p:guideLst>
        <p:guide orient="horz" pos="2160"/>
        <p:guide pos="287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notesMaster" Target="notesMasters/notesMaster1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4063DF40-A8A3-4DA3-BD7C-9127AEC766A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CAB86D0-B768-4562-89BC-E8787C2A996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23D7F70-3C44-4A10-B402-237D081EF68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C37DAC8-FAEE-4EBF-9802-8F4C1CDBA59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24F67EE-8DD9-4074-B7FD-52ECB918F0F9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 flipV="1">
            <a:off x="0" y="-237847"/>
            <a:ext cx="9144000" cy="42665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6A4F2C6-3A16-428D-8890-8CD81BD7772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1C45B1E-3714-436F-A336-26E1E49CD898}" type="slidenum">
              <a:rPr lang="en-US" smtClean="0">
                <a:solidFill>
                  <a:prstClr val="white"/>
                </a:solidFill>
              </a:rPr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0" y="1"/>
            <a:ext cx="308113" cy="365125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314325" y="365126"/>
            <a:ext cx="222388" cy="244475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159027" y="616918"/>
            <a:ext cx="155299" cy="21031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ABE1673-0D0B-4441-9CB1-B21E39A3144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214C546-1FC5-4073-85DF-A5463AB3A4FE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58E50A4-9416-4E34-AD0E-4D28205B3AB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AF098787-47D2-48A9-9C71-66F5A7452A9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>
            <a:spLocks noGrp="1"/>
          </p:cNvSpPr>
          <p:nvPr>
            <p:ph type="pic" sz="half" idx="13"/>
          </p:nvPr>
        </p:nvSpPr>
        <p:spPr>
          <a:xfrm>
            <a:off x="4723805" y="446484"/>
            <a:ext cx="3750469" cy="578643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/>
        </p:txBody>
      </p:sp>
      <p:sp>
        <p:nvSpPr>
          <p:cNvPr id="39" name="Shape 39"/>
          <p:cNvSpPr>
            <a:spLocks noGrp="1"/>
          </p:cNvSpPr>
          <p:nvPr>
            <p:ph type="title" hasCustomPrompt="1"/>
          </p:nvPr>
        </p:nvSpPr>
        <p:spPr>
          <a:xfrm>
            <a:off x="669727" y="446484"/>
            <a:ext cx="3750469" cy="2803922"/>
          </a:xfrm>
          <a:prstGeom prst="rect">
            <a:avLst/>
          </a:prstGeom>
        </p:spPr>
        <p:txBody>
          <a:bodyPr anchor="b"/>
          <a:lstStyle>
            <a:lvl1pPr>
              <a:defRPr sz="3165"/>
            </a:lvl1pPr>
          </a:lstStyle>
          <a:p>
            <a:r>
              <a:t>Title Text</a:t>
            </a:r>
          </a:p>
        </p:txBody>
      </p:sp>
      <p:sp>
        <p:nvSpPr>
          <p:cNvPr id="40" name="Shape 40"/>
          <p:cNvSpPr>
            <a:spLocks noGrp="1"/>
          </p:cNvSpPr>
          <p:nvPr>
            <p:ph type="body" sz="quarter" idx="1" hasCustomPrompt="1"/>
          </p:nvPr>
        </p:nvSpPr>
        <p:spPr>
          <a:xfrm>
            <a:off x="669727" y="3348634"/>
            <a:ext cx="3750469" cy="2884289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1690"/>
            </a:lvl1pPr>
            <a:lvl2pPr marL="0" indent="120650" algn="ctr">
              <a:spcBef>
                <a:spcPts val="0"/>
              </a:spcBef>
              <a:buSzTx/>
              <a:buNone/>
              <a:defRPr sz="1690"/>
            </a:lvl2pPr>
            <a:lvl3pPr marL="0" indent="241300" algn="ctr">
              <a:spcBef>
                <a:spcPts val="0"/>
              </a:spcBef>
              <a:buSzTx/>
              <a:buNone/>
              <a:defRPr sz="1690"/>
            </a:lvl3pPr>
            <a:lvl4pPr marL="0" indent="361950" algn="ctr">
              <a:spcBef>
                <a:spcPts val="0"/>
              </a:spcBef>
              <a:buSzTx/>
              <a:buNone/>
              <a:defRPr sz="1690"/>
            </a:lvl4pPr>
            <a:lvl5pPr marL="0" indent="481965" algn="ctr">
              <a:spcBef>
                <a:spcPts val="0"/>
              </a:spcBef>
              <a:buSzTx/>
              <a:buNone/>
              <a:defRPr sz="169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hape 41"/>
          <p:cNvSpPr>
            <a:spLocks noGrp="1"/>
          </p:cNvSpPr>
          <p:nvPr>
            <p:ph type="sldNum" sz="quarter" idx="2"/>
          </p:nvPr>
        </p:nvSpPr>
        <p:spPr>
          <a:xfrm>
            <a:off x="4437983" y="6505278"/>
            <a:ext cx="259105" cy="26789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>
                <a:solidFill>
                  <a:prstClr val="white"/>
                </a:solidFill>
              </a:rPr>
            </a:fld>
            <a:endParaRPr>
              <a:solidFill>
                <a:prstClr val="white"/>
              </a:solidFill>
            </a:endParaRPr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 txBox="1">
            <a:spLocks noGrp="1"/>
          </p:cNvSpPr>
          <p:nvPr>
            <p:ph type="title"/>
          </p:nvPr>
        </p:nvSpPr>
        <p:spPr>
          <a:xfrm>
            <a:off x="311701" y="842402"/>
            <a:ext cx="2807999" cy="1007599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buSzPct val="100000"/>
              <a:defRPr sz="1800"/>
            </a:lvl1pPr>
            <a:lvl2pPr lvl="1">
              <a:spcBef>
                <a:spcPts val="0"/>
              </a:spcBef>
              <a:buSzPct val="100000"/>
              <a:defRPr sz="1800"/>
            </a:lvl2pPr>
            <a:lvl3pPr lvl="2">
              <a:spcBef>
                <a:spcPts val="0"/>
              </a:spcBef>
              <a:buSzPct val="100000"/>
              <a:defRPr sz="1800"/>
            </a:lvl3pPr>
            <a:lvl4pPr lvl="3">
              <a:spcBef>
                <a:spcPts val="0"/>
              </a:spcBef>
              <a:buSzPct val="100000"/>
              <a:defRPr sz="1800"/>
            </a:lvl4pPr>
            <a:lvl5pPr lvl="4">
              <a:spcBef>
                <a:spcPts val="0"/>
              </a:spcBef>
              <a:buSzPct val="100000"/>
              <a:defRPr sz="1800"/>
            </a:lvl5pPr>
            <a:lvl6pPr lvl="5">
              <a:spcBef>
                <a:spcPts val="0"/>
              </a:spcBef>
              <a:buSzPct val="100000"/>
              <a:defRPr sz="1800"/>
            </a:lvl6pPr>
            <a:lvl7pPr lvl="6">
              <a:spcBef>
                <a:spcPts val="0"/>
              </a:spcBef>
              <a:buSzPct val="100000"/>
              <a:defRPr sz="1800"/>
            </a:lvl7pPr>
            <a:lvl8pPr lvl="7">
              <a:spcBef>
                <a:spcPts val="0"/>
              </a:spcBef>
              <a:buSzPct val="100000"/>
              <a:defRPr sz="1800"/>
            </a:lvl8pPr>
            <a:lvl9pPr lvl="8">
              <a:spcBef>
                <a:spcPts val="0"/>
              </a:spcBef>
              <a:buSzPct val="100000"/>
              <a:defRPr sz="1800"/>
            </a:lvl9pPr>
          </a:lstStyle>
          <a:p/>
        </p:txBody>
      </p:sp>
      <p:sp>
        <p:nvSpPr>
          <p:cNvPr id="36" name="Shape 36"/>
          <p:cNvSpPr txBox="1">
            <a:spLocks noGrp="1"/>
          </p:cNvSpPr>
          <p:nvPr>
            <p:ph type="body" idx="1"/>
          </p:nvPr>
        </p:nvSpPr>
        <p:spPr>
          <a:xfrm>
            <a:off x="311701" y="2157604"/>
            <a:ext cx="2807999" cy="3934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900"/>
            </a:lvl1pPr>
            <a:lvl2pPr lvl="1">
              <a:spcBef>
                <a:spcPts val="0"/>
              </a:spcBef>
              <a:buSzPct val="100000"/>
              <a:defRPr sz="900"/>
            </a:lvl2pPr>
            <a:lvl3pPr lvl="2">
              <a:spcBef>
                <a:spcPts val="0"/>
              </a:spcBef>
              <a:buSzPct val="100000"/>
              <a:defRPr sz="900"/>
            </a:lvl3pPr>
            <a:lvl4pPr lvl="3">
              <a:spcBef>
                <a:spcPts val="0"/>
              </a:spcBef>
              <a:buSzPct val="100000"/>
              <a:defRPr sz="900"/>
            </a:lvl4pPr>
            <a:lvl5pPr lvl="4">
              <a:spcBef>
                <a:spcPts val="0"/>
              </a:spcBef>
              <a:buSzPct val="100000"/>
              <a:defRPr sz="900"/>
            </a:lvl5pPr>
            <a:lvl6pPr lvl="5">
              <a:spcBef>
                <a:spcPts val="0"/>
              </a:spcBef>
              <a:buSzPct val="100000"/>
              <a:defRPr sz="900"/>
            </a:lvl6pPr>
            <a:lvl7pPr lvl="6">
              <a:spcBef>
                <a:spcPts val="0"/>
              </a:spcBef>
              <a:buSzPct val="100000"/>
              <a:defRPr sz="900"/>
            </a:lvl7pPr>
            <a:lvl8pPr lvl="7">
              <a:spcBef>
                <a:spcPts val="0"/>
              </a:spcBef>
              <a:buSzPct val="100000"/>
              <a:defRPr sz="900"/>
            </a:lvl8pPr>
            <a:lvl9pPr lvl="8">
              <a:spcBef>
                <a:spcPts val="0"/>
              </a:spcBef>
              <a:buSzPct val="100000"/>
              <a:defRPr sz="900"/>
            </a:lvl9pPr>
          </a:lstStyle>
          <a:p/>
        </p:txBody>
      </p:sp>
      <p:sp>
        <p:nvSpPr>
          <p:cNvPr id="37" name="Shape 37"/>
          <p:cNvSpPr txBox="1">
            <a:spLocks noGrp="1"/>
          </p:cNvSpPr>
          <p:nvPr>
            <p:ph type="sldNum" idx="12"/>
          </p:nvPr>
        </p:nvSpPr>
        <p:spPr>
          <a:xfrm>
            <a:off x="8472458" y="6217621"/>
            <a:ext cx="548699" cy="52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fld id="{00000000-1234-1234-1234-123412341234}" type="slidenum">
              <a:rPr lang="en-GB" smtClean="0">
                <a:solidFill>
                  <a:prstClr val="white"/>
                </a:solidFill>
              </a:rPr>
            </a:fld>
            <a:endParaRPr lang="en-GB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107" y="351211"/>
            <a:ext cx="8382000" cy="553998"/>
          </a:xfrm>
          <a:prstGeom prst="rect">
            <a:avLst/>
          </a:prstGeom>
        </p:spPr>
        <p:txBody>
          <a:bodyPr/>
          <a:lstStyle>
            <a:lvl1pPr>
              <a:defRPr sz="3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1001" y="1411553"/>
            <a:ext cx="8382000" cy="2210862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75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>
            <a:spLocks noGrp="1"/>
          </p:cNvSpPr>
          <p:nvPr>
            <p:ph type="title" hasCustomPrompt="1"/>
          </p:nvPr>
        </p:nvSpPr>
        <p:spPr>
          <a:xfrm>
            <a:off x="669727" y="312540"/>
            <a:ext cx="7804547" cy="1518047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hape 49"/>
          <p:cNvSpPr>
            <a:spLocks noGrp="1"/>
          </p:cNvSpPr>
          <p:nvPr>
            <p:ph type="sldNum" sz="quarter" idx="2"/>
          </p:nvPr>
        </p:nvSpPr>
        <p:spPr>
          <a:xfrm>
            <a:off x="4437983" y="6505278"/>
            <a:ext cx="259105" cy="26789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>
                <a:solidFill>
                  <a:prstClr val="white"/>
                </a:solidFill>
              </a:rPr>
            </a:fld>
            <a:endParaRPr>
              <a:solidFill>
                <a:prstClr val="white"/>
              </a:solidFill>
            </a:endParaRPr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3429002"/>
            <a:ext cx="9144000" cy="3428999"/>
          </a:xfrm>
          <a:prstGeom prst="rect">
            <a:avLst/>
          </a:prstGeom>
          <a:solidFill>
            <a:srgbClr val="5853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>
              <a:solidFill>
                <a:prstClr val="white"/>
              </a:solidFill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0" y="2"/>
            <a:ext cx="9144000" cy="3428999"/>
          </a:xfrm>
          <a:prstGeom prst="rect">
            <a:avLst/>
          </a:prstGeom>
          <a:solidFill>
            <a:srgbClr val="ADB2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1" y="0"/>
            <a:ext cx="7043208" cy="1523494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405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6" y="4344989"/>
            <a:ext cx="7043208" cy="46166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722050" y="2355850"/>
            <a:ext cx="7690114" cy="1384994"/>
          </a:xfrm>
          <a:prstGeom prst="rect">
            <a:avLst/>
          </a:prstGeom>
        </p:spPr>
        <p:txBody>
          <a:bodyPr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anose="020B0604020202020204" pitchFamily="34" charset="0"/>
              <a:buNone/>
              <a:defRPr kumimoji="0" lang="en-US" sz="7500" b="1" i="1" u="none" strike="noStrike" kern="1200" cap="none" spc="-48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22000" y="1153054"/>
            <a:ext cx="8100000" cy="529200"/>
          </a:xfrm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459000" y="5593050"/>
            <a:ext cx="2025000" cy="2376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087000" y="5593050"/>
            <a:ext cx="2970000" cy="2376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"/>
            <a:ext cx="7886700" cy="8128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2767" y="1175201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1"/>
            <a:ext cx="308113" cy="365125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314325" y="365126"/>
            <a:ext cx="222388" cy="244475"/>
          </a:xfrm>
          <a:prstGeom prst="rect">
            <a:avLst/>
          </a:prstGeom>
          <a:solidFill>
            <a:srgbClr val="193B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1" y="6492876"/>
            <a:ext cx="9144000" cy="365125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 userDrawn="1"/>
        </p:nvSpPr>
        <p:spPr>
          <a:xfrm flipV="1">
            <a:off x="626821" y="584452"/>
            <a:ext cx="8517179" cy="457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-1" y="6590108"/>
            <a:ext cx="9144001" cy="267893"/>
          </a:xfrm>
          <a:prstGeom prst="rect">
            <a:avLst/>
          </a:prstGeom>
          <a:solidFill>
            <a:srgbClr val="193B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24074" y="6492875"/>
            <a:ext cx="2894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pPr defTabSz="342900"/>
            <a:fld id="{01C45B1E-3714-436F-A336-26E1E49CD898}" type="slidenum">
              <a:rPr lang="en-US" smtClean="0">
                <a:solidFill>
                  <a:prstClr val="white"/>
                </a:solidFill>
              </a:rPr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159027" y="616918"/>
            <a:ext cx="155299" cy="21031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rgbClr val="0070C0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99212"/>
            <a:ext cx="8134672" cy="2533339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r>
              <a:rPr lang="en-US" b="1" dirty="0"/>
              <a:t>Fit Mirror-</a:t>
            </a:r>
            <a:r>
              <a:rPr lang="en-US" b="1" i="1" dirty="0"/>
              <a:t>Virtual Shirt Try-On</a:t>
            </a:r>
            <a:br>
              <a:rPr lang="en-US" dirty="0"/>
            </a:br>
            <a:br>
              <a:rPr lang="en-US" dirty="0"/>
            </a:br>
            <a:r>
              <a:rPr lang="en-IN" dirty="0"/>
              <a:t> 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2271010" y="2842545"/>
            <a:ext cx="481933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400" b="1" dirty="0"/>
              <a:t>Team</a:t>
            </a:r>
            <a:endParaRPr lang="en-IN" sz="2400" b="1" dirty="0"/>
          </a:p>
          <a:p>
            <a:pPr algn="ctr"/>
            <a:r>
              <a:rPr lang="en-US" sz="2400" dirty="0"/>
              <a:t>S Yashwanth         (R23EA149)</a:t>
            </a:r>
            <a:endParaRPr lang="en-US" sz="2400" dirty="0"/>
          </a:p>
          <a:p>
            <a:pPr algn="ctr"/>
            <a:r>
              <a:rPr lang="en-US" sz="2400" dirty="0"/>
              <a:t>M Susanth             (R23EA172)</a:t>
            </a:r>
            <a:endParaRPr lang="en-US" sz="2400" dirty="0"/>
          </a:p>
          <a:p>
            <a:pPr algn="ctr"/>
            <a:r>
              <a:rPr lang="en-US" sz="2400" dirty="0"/>
              <a:t>V Charith Reddy   (R23EA153)</a:t>
            </a:r>
            <a:endParaRPr lang="en-IN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Problem Statement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Problem Statement:</a:t>
            </a:r>
            <a:br>
              <a:rPr lang="en-US" dirty="0"/>
            </a:br>
            <a:r>
              <a:rPr lang="en-US" dirty="0"/>
              <a:t>Customers shopping online for shirts cannot accurately visualize how a shirt will fit and look on them, leading to uncertainty, dissatisfaction, and increased product returns.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Motivation :</a:t>
            </a:r>
            <a:br>
              <a:rPr lang="en-US" dirty="0"/>
            </a:br>
            <a:r>
              <a:rPr lang="en-US" dirty="0"/>
              <a:t>Despite the convenience of online apparel shopping, customers still prefer physical trials to assess fit, color, and style. The lack of a real-time try-on experience limits purchase confidence. A virtual try-on solution, leveraging a webcam and AI-powered garment fitting, can help users visualize shirts on themselves before purchase — enhancing user satisfaction and reducing returns.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/>
              <a:t>Product/ Solution - Innovation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834" y="1124261"/>
            <a:ext cx="8739264" cy="499172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IN" dirty="0"/>
              <a:t>1️⃣ </a:t>
            </a:r>
            <a:r>
              <a:rPr lang="en-IN" sz="2400" b="1" dirty="0"/>
              <a:t>Explanation &amp; Problem Solving</a:t>
            </a:r>
            <a:endParaRPr lang="en-IN" sz="2400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254834" y="1473381"/>
            <a:ext cx="8739264" cy="42934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Our innovation introduces an 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AI-powered Virtual Try-On platform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that allows users to visualize how different 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shirts fit and look on them</a:t>
            </a:r>
            <a:endParaRPr kumimoji="0" lang="en-US" altLang="en-US" sz="2100" b="1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 in real-time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 using their 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webcam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It addresses major 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online shopping challenges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 such as uncertainty</a:t>
            </a: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 about size, fit, and color suitability.</a:t>
            </a: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The solution 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detects the user’s body via computer vision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 and </a:t>
            </a: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overlays selected shirt models dynamically for a realistic fitting experience.</a:t>
            </a: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It helps customers 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make confident purchase decisions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, reducing </a:t>
            </a: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return rates and enhancing satisfaction.</a:t>
            </a: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For retailers, this 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increases conversion rates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, lowers logistics costs</a:t>
            </a: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 from returns, and provides 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data-driven insights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 into customer preferences.</a:t>
            </a: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/>
              <a:t>Product/ Solution - Innovation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9822" y="989351"/>
            <a:ext cx="8724275" cy="512663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IN" sz="2400" dirty="0"/>
              <a:t>2️⃣ </a:t>
            </a:r>
            <a:r>
              <a:rPr lang="en-IN" sz="2400" b="1" dirty="0"/>
              <a:t>Type of Innovation</a:t>
            </a:r>
            <a:endParaRPr lang="en-IN" sz="2400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b="1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498685" y="1451169"/>
            <a:ext cx="8645315" cy="3647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Technological Innovation:</a:t>
            </a:r>
            <a:b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Utilizes 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Augmented Reality (AR)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Computer Vision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 to create a</a:t>
            </a: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real-time </a:t>
            </a:r>
            <a:endParaRPr kumimoji="0" lang="en-US" altLang="en-US" sz="2100" b="1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shirt try-on experience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 through the user’s webcam.</a:t>
            </a: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Process Innovation:</a:t>
            </a:r>
            <a:b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Transforms traditional online clothing purchase processes by 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allowing </a:t>
            </a:r>
            <a:endParaRPr kumimoji="0" lang="en-US" altLang="en-US" sz="2100" b="1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users to virtually test fit and style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 before buying.</a:t>
            </a: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Customer Experience Innovation:</a:t>
            </a:r>
            <a:b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Enhances 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buyer confidence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 and reduces 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purchase hesitation</a:t>
            </a:r>
            <a:endParaRPr kumimoji="0" lang="en-US" altLang="en-US" sz="2100" b="1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 through an I</a:t>
            </a: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nteractive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, personalized shopping experience.</a:t>
            </a: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/>
              <a:t>Product/ Solution - Innovation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9822" y="989351"/>
            <a:ext cx="8724275" cy="512663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/>
              <a:t>3️⃣ Uniqueness Compared to Others</a:t>
            </a: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r>
              <a:rPr lang="en-US" dirty="0"/>
              <a:t>Unlike existing AR try-ons (e.g., </a:t>
            </a:r>
            <a:r>
              <a:rPr lang="en-US" b="1" dirty="0"/>
              <a:t>Lenskart’s eyewear demo</a:t>
            </a:r>
            <a:r>
              <a:rPr lang="en-US" dirty="0"/>
              <a:t>), this system </a:t>
            </a:r>
            <a:r>
              <a:rPr lang="en-US" b="1" dirty="0"/>
              <a:t>focuses on apparel fitment</a:t>
            </a:r>
            <a:r>
              <a:rPr lang="en-US" dirty="0"/>
              <a:t> using </a:t>
            </a:r>
            <a:r>
              <a:rPr lang="en-US" b="1" dirty="0"/>
              <a:t>upper-body mapping and 3D garment overlay</a:t>
            </a:r>
            <a:r>
              <a:rPr lang="en-US" dirty="0"/>
              <a:t>.</a:t>
            </a:r>
            <a:endParaRPr lang="en-US" dirty="0"/>
          </a:p>
          <a:p>
            <a:r>
              <a:rPr lang="en-US" dirty="0"/>
              <a:t>Provides </a:t>
            </a:r>
            <a:r>
              <a:rPr lang="en-US" b="1" dirty="0"/>
              <a:t>real-time fit simulation</a:t>
            </a:r>
            <a:r>
              <a:rPr lang="en-US" dirty="0"/>
              <a:t> instead of static image overlays, offering a more </a:t>
            </a:r>
            <a:r>
              <a:rPr lang="en-US" b="1" dirty="0"/>
              <a:t>accurate and immersive experience</a:t>
            </a:r>
            <a:r>
              <a:rPr lang="en-US" dirty="0"/>
              <a:t>.</a:t>
            </a:r>
            <a:endParaRPr lang="en-US" dirty="0"/>
          </a:p>
          <a:p>
            <a:r>
              <a:rPr lang="en-US" dirty="0"/>
              <a:t>Supports </a:t>
            </a:r>
            <a:r>
              <a:rPr lang="en-US" b="1" dirty="0"/>
              <a:t>custom fabric texture visualization</a:t>
            </a:r>
            <a:r>
              <a:rPr lang="en-US" dirty="0"/>
              <a:t>, </a:t>
            </a:r>
            <a:r>
              <a:rPr lang="en-US" b="1" dirty="0"/>
              <a:t>size scaling</a:t>
            </a:r>
            <a:r>
              <a:rPr lang="en-US" dirty="0"/>
              <a:t>, and </a:t>
            </a:r>
            <a:r>
              <a:rPr lang="en-US" b="1" dirty="0"/>
              <a:t>color variant preview</a:t>
            </a:r>
            <a:r>
              <a:rPr lang="en-US" dirty="0"/>
              <a:t> to help users find their perfect shirt.</a:t>
            </a:r>
            <a:endParaRPr lang="en-US" dirty="0"/>
          </a:p>
          <a:p>
            <a:r>
              <a:rPr lang="en-US" dirty="0"/>
              <a:t>Can be </a:t>
            </a:r>
            <a:r>
              <a:rPr lang="en-US" b="1" dirty="0"/>
              <a:t>integrated with any e-commerce platform</a:t>
            </a:r>
            <a:r>
              <a:rPr lang="en-US" dirty="0"/>
              <a:t>, making it a </a:t>
            </a:r>
            <a:r>
              <a:rPr lang="en-US" b="1" dirty="0"/>
              <a:t>scalable plug-and-play solution</a:t>
            </a:r>
            <a:r>
              <a:rPr lang="en-US" dirty="0"/>
              <a:t> for online clothing retailers.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/>
              <a:t>Product/ Solution - Readiness Level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9783" y="1268760"/>
            <a:ext cx="78867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61991" y="1109273"/>
            <a:ext cx="8074492" cy="4601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Stage: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400" b="1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Idea Validation &amp; Early Prototype</a:t>
            </a:r>
            <a:endParaRPr lang="en-US" sz="2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concept has moved beyond ideation — a 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working prototype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is being developed using 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webcam-based AR fitting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for shirts.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Basic 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body detection and shirt overlay functionality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is under testing.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User feedback from early interviews validates strong interest and purchase confidence improvement.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Proof of Concept (PoC):</a:t>
            </a:r>
            <a:endParaRPr lang="en-US" sz="2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sz="2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</a:t>
            </a:r>
            <a:r>
              <a:rPr lang="en-U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React-based web demo</a:t>
            </a:r>
            <a:r>
              <a:rPr lang="en-US" sz="2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is under development that uses </a:t>
            </a:r>
            <a:r>
              <a:rPr lang="en-U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webcam input</a:t>
            </a:r>
            <a:r>
              <a:rPr lang="en-US" sz="2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and </a:t>
            </a:r>
            <a:r>
              <a:rPr lang="en-U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AR overlay</a:t>
            </a:r>
            <a:r>
              <a:rPr lang="en-US" sz="2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of shirts.</a:t>
            </a:r>
            <a:endParaRPr lang="en-US" sz="2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sz="2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Early testing shows accurate </a:t>
            </a:r>
            <a:r>
              <a:rPr lang="en-U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upper-body alignment</a:t>
            </a:r>
            <a:r>
              <a:rPr lang="en-US" sz="2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using </a:t>
            </a:r>
            <a:r>
              <a:rPr lang="en-U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pose detection (MediaPipe/AR.js)</a:t>
            </a:r>
            <a:r>
              <a:rPr lang="en-US" sz="2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en-US" sz="2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sz="2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Planned enhancements include </a:t>
            </a:r>
            <a:r>
              <a:rPr lang="en-U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texture realism</a:t>
            </a:r>
            <a:r>
              <a:rPr lang="en-US" sz="2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and </a:t>
            </a:r>
            <a:r>
              <a:rPr lang="en-U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size scaling</a:t>
            </a:r>
            <a:r>
              <a:rPr lang="en-US" sz="2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en-US" sz="2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/>
              <a:t>Product/ Solution - Readiness Level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9783" y="1268760"/>
            <a:ext cx="78867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61991" y="1109273"/>
            <a:ext cx="80744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3758" y="652075"/>
            <a:ext cx="8536483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Ideal Customer Profile – Summary</a:t>
            </a:r>
            <a:endParaRPr lang="en-US" sz="2000" b="1" dirty="0"/>
          </a:p>
          <a:p>
            <a:pPr>
              <a:buNone/>
            </a:pPr>
            <a:r>
              <a:rPr lang="en-US" b="1" dirty="0"/>
              <a:t>Customer Type:</a:t>
            </a:r>
            <a:br>
              <a:rPr lang="en-US" dirty="0"/>
            </a:br>
            <a:r>
              <a:rPr lang="en-US" dirty="0"/>
              <a:t>Tech-savvy online shoppers aged 18–35, living in urban areas, who frequently buy fashion apparel online.</a:t>
            </a:r>
            <a:endParaRPr lang="en-US" dirty="0"/>
          </a:p>
          <a:p>
            <a:pPr>
              <a:buNone/>
            </a:pPr>
            <a:r>
              <a:rPr lang="en-US" b="1" dirty="0"/>
              <a:t>Key Traits: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Regular buyers on Myntra, Amazon, Ajio, Flipkart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Value style, convenience, and fit confidence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smartphones/laptops with webcam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Prefer interactive and visual shopping experiences</a:t>
            </a:r>
            <a:endParaRPr lang="en-US" dirty="0"/>
          </a:p>
          <a:p>
            <a:pPr>
              <a:buNone/>
            </a:pPr>
            <a:r>
              <a:rPr lang="en-US" b="1" dirty="0"/>
              <a:t>Pain Points: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Unsure about fit, size, and color accuracy when buying shirts online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Frustrated by returns and refund delays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Product images often don’t match real appearance</a:t>
            </a:r>
            <a:endParaRPr lang="en-US" dirty="0"/>
          </a:p>
          <a:p>
            <a:pPr>
              <a:buNone/>
            </a:pPr>
            <a:r>
              <a:rPr lang="en-US" b="1" dirty="0"/>
              <a:t>Goals &amp; Motivations: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Want to visualize shirts before purchase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Seek trustworthy and engaging online shopping experiences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Aim to reduce time and effort in choosing the right apparel</a:t>
            </a:r>
            <a:endParaRPr lang="en-US" dirty="0"/>
          </a:p>
          <a:p>
            <a:pPr>
              <a:buNone/>
            </a:pPr>
            <a:r>
              <a:rPr lang="en-US" b="1" dirty="0"/>
              <a:t>Business ICP (B2B):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Online fashion retailers &amp; clothing brands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Want to reduce returns, boost conversions, and enhance customer satisfaction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Looking to integrate AI + AR try-on technology for a modern, immersive experience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/>
              <a:t>Product/ Solution - Readiness Level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9783" y="1268760"/>
            <a:ext cx="78867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312052" y="3774317"/>
          <a:ext cx="590646" cy="22708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6882"/>
                <a:gridCol w="196882"/>
                <a:gridCol w="196882"/>
              </a:tblGrid>
              <a:tr h="0"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endParaRPr lang="en-IN" sz="1300" dirty="0"/>
                    </a:p>
                  </a:txBody>
                  <a:tcPr marL="85741" marR="85741" marT="42870" marB="42870" anchor="ctr">
                    <a:lnL>
                      <a:noFill/>
                    </a:lnL>
                  </a:tcPr>
                </a:tc>
                <a:tc rowSpan="3">
                  <a:txBody>
                    <a:bodyPr/>
                    <a:lstStyle/>
                    <a:p>
                      <a:pPr>
                        <a:buNone/>
                      </a:pPr>
                      <a:endParaRPr lang="en-IN" sz="1300" dirty="0"/>
                    </a:p>
                  </a:txBody>
                  <a:tcPr marL="85741" marR="85741" marT="42870" marB="42870" anchor="ctr"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5741" marR="85741" marT="42870" marB="42870" anchor="ctr"/>
                </a:tc>
              </a:tr>
              <a:tr h="0">
                <a:tc vMerge="1">
                  <a:tcPr marL="85741" marR="85741" marT="42870" marB="42870" anchor="ctr"/>
                </a:tc>
                <a:tc vMerge="1">
                  <a:tcPr marL="85741" marR="85741" marT="42870" marB="428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300" dirty="0"/>
                    </a:p>
                  </a:txBody>
                  <a:tcPr marL="85741" marR="85741" marT="42870" marB="42870" anchor="ctr"/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 dirty="0"/>
                    </a:p>
                  </a:txBody>
                  <a:tcPr marL="85741" marR="85741" marT="42870" marB="42870" anchor="ctr"/>
                </a:tc>
                <a:tc vMerge="1">
                  <a:tcPr marL="85741" marR="85741" marT="42870" marB="42870" anchor="ctr"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300" dirty="0"/>
                    </a:p>
                  </a:txBody>
                  <a:tcPr marL="85741" marR="85741" marT="42870" marB="42870" anchor="ctr"/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 dirty="0"/>
                    </a:p>
                  </a:txBody>
                  <a:tcPr marL="85741" marR="85741" marT="42870" marB="42870" anchor="ctr"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 dirty="0"/>
                    </a:p>
                  </a:txBody>
                  <a:tcPr marL="85741" marR="85741" marT="42870" marB="428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300"/>
                    </a:p>
                  </a:txBody>
                  <a:tcPr marL="85741" marR="85741" marT="42870" marB="42870" anchor="ctr">
                    <a:lnL>
                      <a:noFill/>
                    </a:lnL>
                  </a:tcPr>
                </a:tc>
              </a:tr>
              <a:tr h="0"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endParaRPr lang="en-IN" sz="1300" dirty="0"/>
                    </a:p>
                  </a:txBody>
                  <a:tcPr marL="85741" marR="85741" marT="42870" marB="42870" anchor="ctr"/>
                </a:tc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endParaRPr lang="en-IN" sz="1300" dirty="0"/>
                    </a:p>
                  </a:txBody>
                  <a:tcPr marL="85741" marR="85741" marT="42870" marB="42870" anchor="ctr">
                    <a:lnT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5741" marR="85741" marT="42870" marB="42870" anchor="ctr"/>
                </a:tc>
              </a:tr>
              <a:tr h="0">
                <a:tc vMerge="1">
                  <a:tcPr marL="85741" marR="85741" marT="42870" marB="42870" anchor="ctr"/>
                </a:tc>
                <a:tc vMerge="1">
                  <a:tcPr marL="85741" marR="85741" marT="42870" marB="428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300" dirty="0"/>
                    </a:p>
                  </a:txBody>
                  <a:tcPr marL="85741" marR="85741" marT="42870" marB="42870" anchor="ctr"/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5741" marR="85741" marT="42870" marB="428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 dirty="0"/>
                    </a:p>
                  </a:txBody>
                  <a:tcPr marL="85741" marR="85741" marT="42870" marB="428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300" dirty="0"/>
                    </a:p>
                  </a:txBody>
                  <a:tcPr marL="85741" marR="85741" marT="42870" marB="42870" anchor="ctr"/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5741" marR="85741" marT="42870" marB="428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300"/>
                    </a:p>
                  </a:txBody>
                  <a:tcPr marL="85741" marR="85741" marT="42870" marB="428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300" dirty="0"/>
                    </a:p>
                  </a:txBody>
                  <a:tcPr marL="85741" marR="85741" marT="42870" marB="42870" anchor="ctr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83567" y="823267"/>
            <a:ext cx="8395737" cy="7232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Customer Persona</a:t>
            </a:r>
            <a:endParaRPr lang="en-IN" sz="2000" b="1" dirty="0"/>
          </a:p>
          <a:p>
            <a:r>
              <a:rPr lang="en-US" b="1" dirty="0"/>
              <a:t>Name:</a:t>
            </a:r>
            <a:r>
              <a:rPr lang="en-US" dirty="0"/>
              <a:t> Ajay Raman</a:t>
            </a:r>
            <a:br>
              <a:rPr lang="en-US" dirty="0"/>
            </a:br>
            <a:r>
              <a:rPr lang="en-US" b="1" dirty="0"/>
              <a:t>Role:</a:t>
            </a:r>
            <a:r>
              <a:rPr lang="en-US" dirty="0"/>
              <a:t> Fashion Designer &amp; Owner – </a:t>
            </a:r>
            <a:r>
              <a:rPr lang="en-US" i="1" dirty="0"/>
              <a:t>The Urban Streetwear</a:t>
            </a:r>
            <a:br>
              <a:rPr lang="en-US" dirty="0"/>
            </a:br>
            <a:r>
              <a:rPr lang="en-US" b="1" dirty="0"/>
              <a:t>Business Type:</a:t>
            </a:r>
            <a:r>
              <a:rPr lang="en-US" dirty="0"/>
              <a:t> Small casual wear boutique (6–10 employees)</a:t>
            </a:r>
            <a:br>
              <a:rPr lang="en-US" dirty="0"/>
            </a:br>
            <a:r>
              <a:rPr lang="en-US" b="1" dirty="0"/>
              <a:t>Location:</a:t>
            </a:r>
            <a:r>
              <a:rPr lang="en-US" dirty="0"/>
              <a:t> Yelahanka, Bengaluru</a:t>
            </a:r>
            <a:endParaRPr lang="en-US" dirty="0"/>
          </a:p>
          <a:p>
            <a:r>
              <a:rPr lang="en-US" b="1" dirty="0"/>
              <a:t>Background &amp; Focus:</a:t>
            </a:r>
            <a:endParaRPr lang="en-US" dirty="0"/>
          </a:p>
          <a:p>
            <a:r>
              <a:rPr lang="en-US" dirty="0"/>
              <a:t>Passionate about </a:t>
            </a:r>
            <a:r>
              <a:rPr lang="en-US" b="1" dirty="0"/>
              <a:t>modern streetwear design</a:t>
            </a:r>
            <a:r>
              <a:rPr lang="en-US" dirty="0"/>
              <a:t> and </a:t>
            </a:r>
            <a:r>
              <a:rPr lang="en-US" b="1" dirty="0"/>
              <a:t>digital innovation</a:t>
            </a:r>
            <a:r>
              <a:rPr lang="en-US" dirty="0"/>
              <a:t> in fashion retail.</a:t>
            </a:r>
            <a:endParaRPr lang="en-US" dirty="0"/>
          </a:p>
          <a:p>
            <a:r>
              <a:rPr lang="en-US" dirty="0"/>
              <a:t>Wants to create a </a:t>
            </a:r>
            <a:r>
              <a:rPr lang="en-US" b="1" dirty="0"/>
              <a:t>tech-driven customer experience</a:t>
            </a:r>
            <a:r>
              <a:rPr lang="en-US" dirty="0"/>
              <a:t> that attracts young shoppers.</a:t>
            </a:r>
            <a:endParaRPr lang="en-US" dirty="0"/>
          </a:p>
          <a:p>
            <a:r>
              <a:rPr lang="en-US" b="1" dirty="0"/>
              <a:t>Goals &amp; Motivations:</a:t>
            </a:r>
            <a:endParaRPr lang="en-US" dirty="0"/>
          </a:p>
          <a:p>
            <a:r>
              <a:rPr lang="en-US" dirty="0"/>
              <a:t>Improve </a:t>
            </a:r>
            <a:r>
              <a:rPr lang="en-US" b="1" dirty="0"/>
              <a:t>online sales conversion</a:t>
            </a:r>
            <a:r>
              <a:rPr lang="en-US" dirty="0"/>
              <a:t> by offering virtual try-on options.</a:t>
            </a:r>
            <a:endParaRPr lang="en-US" dirty="0"/>
          </a:p>
          <a:p>
            <a:r>
              <a:rPr lang="en-US" dirty="0"/>
              <a:t>Reduce </a:t>
            </a:r>
            <a:r>
              <a:rPr lang="en-US" b="1" dirty="0"/>
              <a:t>in-store trial time</a:t>
            </a:r>
            <a:r>
              <a:rPr lang="en-US" dirty="0"/>
              <a:t> and enhance purchase confidence.</a:t>
            </a:r>
            <a:endParaRPr lang="en-US" dirty="0"/>
          </a:p>
          <a:p>
            <a:r>
              <a:rPr lang="en-US" dirty="0"/>
              <a:t>Build a </a:t>
            </a:r>
            <a:r>
              <a:rPr lang="en-US" b="1" dirty="0"/>
              <a:t>strong online presence</a:t>
            </a:r>
            <a:r>
              <a:rPr lang="en-US" dirty="0"/>
              <a:t> through AR integration on Instagram and WhatsApp Shop.</a:t>
            </a:r>
            <a:endParaRPr lang="en-US" dirty="0"/>
          </a:p>
          <a:p>
            <a:r>
              <a:rPr lang="en-US" b="1" dirty="0"/>
              <a:t>Pain Points:</a:t>
            </a:r>
            <a:endParaRPr lang="en-US" dirty="0"/>
          </a:p>
          <a:p>
            <a:r>
              <a:rPr lang="en-US" b="1" dirty="0"/>
              <a:t>High in-store trial time</a:t>
            </a:r>
            <a:r>
              <a:rPr lang="en-US" dirty="0"/>
              <a:t> but limited purchases.</a:t>
            </a:r>
            <a:endParaRPr lang="en-US" dirty="0"/>
          </a:p>
          <a:p>
            <a:r>
              <a:rPr lang="en-US" b="1" dirty="0"/>
              <a:t>Frequent online order cancellations</a:t>
            </a:r>
            <a:r>
              <a:rPr lang="en-US" dirty="0"/>
              <a:t> due to sizing issues.</a:t>
            </a:r>
            <a:endParaRPr lang="en-US" dirty="0"/>
          </a:p>
          <a:p>
            <a:r>
              <a:rPr lang="en-US" dirty="0"/>
              <a:t>Competing boutiques are </a:t>
            </a:r>
            <a:r>
              <a:rPr lang="en-US" b="1" dirty="0"/>
              <a:t>adopting online and AR-based strategies</a:t>
            </a:r>
            <a:r>
              <a:rPr lang="en-US" dirty="0"/>
              <a:t>.</a:t>
            </a:r>
            <a:endParaRPr lang="en-US" dirty="0"/>
          </a:p>
          <a:p>
            <a:r>
              <a:rPr lang="en-US" b="1" dirty="0"/>
              <a:t>Budget Range:</a:t>
            </a:r>
            <a:r>
              <a:rPr lang="en-US" dirty="0"/>
              <a:t> ₹75,000 – ₹2,00,000</a:t>
            </a:r>
            <a:br>
              <a:rPr lang="en-US" dirty="0"/>
            </a:br>
            <a:r>
              <a:rPr lang="en-US" b="1" dirty="0"/>
              <a:t>Tech Preference:</a:t>
            </a:r>
            <a:r>
              <a:rPr lang="en-US" dirty="0"/>
              <a:t> Instagram Shop, WhatsApp Business, AR Try-On Integration</a:t>
            </a:r>
            <a:endParaRPr lang="en-US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"/>
            <a:ext cx="7886700" cy="812849"/>
          </a:xfrm>
        </p:spPr>
        <p:txBody>
          <a:bodyPr anchor="ctr">
            <a:normAutofit/>
          </a:bodyPr>
          <a:lstStyle/>
          <a:p>
            <a:r>
              <a:rPr lang="en-IN" sz="2500" dirty="0"/>
              <a:t>Team Size, Background, Strength /Capability and Resources</a:t>
            </a:r>
            <a:endParaRPr lang="en-IN" sz="2500" dirty="0"/>
          </a:p>
        </p:txBody>
      </p:sp>
      <p:pic>
        <p:nvPicPr>
          <p:cNvPr id="10" name="Content Placeholder 9" descr="A screenshot of a computer&#10;&#10;AI-generated content may be incorrect."/>
          <p:cNvPicPr>
            <a:picLocks noGrp="1" noChangeAspect="1"/>
          </p:cNvPicPr>
          <p:nvPr>
            <p:ph sz="half"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20" r="32989"/>
          <a:stretch>
            <a:fillRect/>
          </a:stretch>
        </p:blipFill>
        <p:spPr>
          <a:xfrm>
            <a:off x="122750" y="959370"/>
            <a:ext cx="4392100" cy="5217593"/>
          </a:xfrm>
          <a:noFill/>
        </p:spPr>
      </p:pic>
      <p:sp>
        <p:nvSpPr>
          <p:cNvPr id="1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24074" y="6492875"/>
            <a:ext cx="28947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Content Placeholder 3"/>
          <p:cNvSpPr>
            <a:spLocks noGrp="1"/>
          </p:cNvSpPr>
          <p:nvPr>
            <p:ph sz="half" idx="2"/>
          </p:nvPr>
        </p:nvSpPr>
        <p:spPr>
          <a:xfrm>
            <a:off x="4412343" y="810145"/>
            <a:ext cx="3871232" cy="5217593"/>
          </a:xfrm>
        </p:spPr>
        <p:txBody>
          <a:bodyPr>
            <a:normAutofit fontScale="92500"/>
          </a:bodyPr>
          <a:lstStyle/>
          <a:p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Individual Contribution to Product:</a:t>
            </a:r>
            <a:endParaRPr lang="en-US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Designs the entire user interface - making it beautiful, intuitive, and easy to use for everyone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Integrates your device camera seamlessly so the try-on experience feels natural and instant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Creates the real-time video overlay effects that make shirts appear on your body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Ensures the app works perfectly on phones, tablets, and computers - responsive on all screens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Connects the app with Instagram and WhatsApp so boutiques can share try-on links with customers easily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 descr="A screen shot of a phone&#10;&#10;AI-generated content may be incorrect."/>
          <p:cNvPicPr>
            <a:picLocks noGrp="1" noChangeAspect="1"/>
          </p:cNvPicPr>
          <p:nvPr>
            <p:ph type="pic" sz="half" idx="13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6" r="3941" b="-1"/>
          <a:stretch>
            <a:fillRect/>
          </a:stretch>
        </p:blipFill>
        <p:spPr>
          <a:xfrm>
            <a:off x="479778" y="928914"/>
            <a:ext cx="3750469" cy="4775200"/>
          </a:xfrm>
          <a:noFill/>
        </p:spPr>
      </p:pic>
      <p:sp>
        <p:nvSpPr>
          <p:cNvPr id="16" name="Content Placeholder 3"/>
          <p:cNvSpPr txBox="1"/>
          <p:nvPr/>
        </p:nvSpPr>
        <p:spPr>
          <a:xfrm>
            <a:off x="4629152" y="1259174"/>
            <a:ext cx="3886198" cy="49177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/>
              <a:t>Individual Contribution to Product:</a:t>
            </a:r>
            <a:endParaRPr lang="en-US" b="1"/>
          </a:p>
          <a:p>
            <a:r>
              <a:rPr lang="en-US"/>
              <a:t>Designs the entire user interface - making it beautiful, intuitive, and easy to use for everyone</a:t>
            </a:r>
            <a:endParaRPr lang="en-US"/>
          </a:p>
          <a:p>
            <a:r>
              <a:rPr lang="en-US"/>
              <a:t>Integrates your device camera seamlessly so the try-on experience feels natural and instant</a:t>
            </a:r>
            <a:endParaRPr lang="en-US"/>
          </a:p>
          <a:p>
            <a:r>
              <a:rPr lang="en-US"/>
              <a:t>Creates the real-time video overlay effects that make shirts appear on your body</a:t>
            </a:r>
            <a:endParaRPr lang="en-US"/>
          </a:p>
          <a:p>
            <a:r>
              <a:rPr lang="en-US"/>
              <a:t>Ensures the app works perfectly on phones, tablets, and computers - responsive on all screens</a:t>
            </a:r>
            <a:endParaRPr lang="en-US"/>
          </a:p>
          <a:p>
            <a:r>
              <a:rPr lang="en-US"/>
              <a:t>Connects the app with Instagram and WhatsApp so boutiques can share try-on links with customers easily</a:t>
            </a:r>
            <a:endParaRPr lang="en-US"/>
          </a:p>
          <a:p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4437983" y="814181"/>
            <a:ext cx="4285103" cy="5229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spcAft>
                <a:spcPts val="1125"/>
              </a:spcAft>
              <a:buNone/>
            </a:pPr>
            <a:r>
              <a:rPr lang="en-US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Individual Contribution to Product:</a:t>
            </a:r>
            <a:endParaRPr lang="en-US" b="1" i="0" dirty="0">
              <a:solidFill>
                <a:schemeClr val="tx1">
                  <a:lumMod val="65000"/>
                  <a:lumOff val="35000"/>
                </a:schemeClr>
              </a:solidFill>
              <a:effectLst/>
            </a:endParaRPr>
          </a:p>
          <a:p>
            <a:pPr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Designs and builds all the APIs that power the app - think of it as creating the highways that data travels on</a:t>
            </a:r>
            <a:endParaRPr lang="en-US" b="0" i="0" dirty="0">
              <a:solidFill>
                <a:schemeClr val="tx1">
                  <a:lumMod val="65000"/>
                  <a:lumOff val="35000"/>
                </a:schemeClr>
              </a:solidFill>
              <a:effectLst/>
            </a:endParaRPr>
          </a:p>
          <a:p>
            <a:pPr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Creates the backend systems that process your camera feed and uploaded photos in real-time</a:t>
            </a:r>
            <a:endParaRPr lang="en-US" b="0" i="0" dirty="0">
              <a:solidFill>
                <a:schemeClr val="tx1">
                  <a:lumMod val="65000"/>
                  <a:lumOff val="35000"/>
                </a:schemeClr>
              </a:solidFill>
              <a:effectLst/>
            </a:endParaRPr>
          </a:p>
          <a:p>
            <a:pPr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Builds the database that stores everything - clothing catalogs, user preferences, and analytics</a:t>
            </a:r>
            <a:endParaRPr lang="en-US" b="0" i="0" dirty="0">
              <a:solidFill>
                <a:schemeClr val="tx1">
                  <a:lumMod val="65000"/>
                  <a:lumOff val="35000"/>
                </a:schemeClr>
              </a:solidFill>
              <a:effectLst/>
            </a:endParaRPr>
          </a:p>
          <a:p>
            <a:pPr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Handles integration with AWS/Firebase so the app can scale when thousands of people use it</a:t>
            </a:r>
            <a:endParaRPr lang="en-US" b="0" i="0" dirty="0">
              <a:solidFill>
                <a:schemeClr val="tx1">
                  <a:lumMod val="65000"/>
                  <a:lumOff val="35000"/>
                </a:schemeClr>
              </a:solidFill>
              <a:effectLst/>
            </a:endParaRPr>
          </a:p>
          <a:p>
            <a:pPr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Implements security measures to protect user data and ensures we comply with privacy laws</a:t>
            </a:r>
            <a:endParaRPr lang="en-US" b="0" i="0" dirty="0">
              <a:solidFill>
                <a:schemeClr val="tx1">
                  <a:lumMod val="65000"/>
                  <a:lumOff val="35000"/>
                </a:schemeClr>
              </a:solidFill>
              <a:effectLst/>
            </a:endParaRPr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628650" y="2"/>
            <a:ext cx="7886700" cy="812849"/>
          </a:xfrm>
        </p:spPr>
        <p:txBody>
          <a:bodyPr anchor="ctr">
            <a:normAutofit/>
          </a:bodyPr>
          <a:lstStyle/>
          <a:p>
            <a:r>
              <a:rPr lang="en-IN" sz="2500" dirty="0"/>
              <a:t>Team Size, Background, Strength /Capability and Resources</a:t>
            </a:r>
            <a:endParaRPr lang="en-IN" sz="2500" dirty="0"/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Placeholder 13" descr="A white square with blue text and a circle with a blue circle&#10;&#10;AI-generated content may be incorrect."/>
          <p:cNvPicPr>
            <a:picLocks noGrp="1" noChangeAspect="1"/>
          </p:cNvPicPr>
          <p:nvPr>
            <p:ph sz="half" idx="2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25" r="-3" b="5122"/>
          <a:stretch>
            <a:fillRect/>
          </a:stretch>
        </p:blipFill>
        <p:spPr>
          <a:xfrm>
            <a:off x="290286" y="1161143"/>
            <a:ext cx="4224565" cy="4854349"/>
          </a:xfrm>
          <a:noFill/>
        </p:spPr>
      </p:pic>
      <p:sp>
        <p:nvSpPr>
          <p:cNvPr id="20" name="TextBox 19"/>
          <p:cNvSpPr txBox="1"/>
          <p:nvPr/>
        </p:nvSpPr>
        <p:spPr>
          <a:xfrm>
            <a:off x="4514851" y="842508"/>
            <a:ext cx="4077266" cy="45284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171450" indent="-171450" defTabSz="685800">
              <a:lnSpc>
                <a:spcPct val="90000"/>
              </a:lnSpc>
              <a:spcBef>
                <a:spcPts val="750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Individual Contribution to Product:</a:t>
            </a:r>
            <a:endParaRPr lang="en-US" b="1" i="0" dirty="0">
              <a:solidFill>
                <a:schemeClr val="tx1">
                  <a:lumMod val="65000"/>
                  <a:lumOff val="35000"/>
                </a:schemeClr>
              </a:solidFill>
              <a:effectLst/>
            </a:endParaRPr>
          </a:p>
          <a:p>
            <a:pPr marL="171450" indent="-171450" defTabSz="685800">
              <a:lnSpc>
                <a:spcPct val="90000"/>
              </a:lnSpc>
              <a:spcBef>
                <a:spcPts val="750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Designs and builds all the APIs that power the app - think of it as creating the highways that data travels on</a:t>
            </a:r>
            <a:endParaRPr lang="en-US" b="0" i="0" dirty="0">
              <a:solidFill>
                <a:schemeClr val="tx1">
                  <a:lumMod val="65000"/>
                  <a:lumOff val="35000"/>
                </a:schemeClr>
              </a:solidFill>
              <a:effectLst/>
            </a:endParaRPr>
          </a:p>
          <a:p>
            <a:pPr marL="171450" indent="-171450" defTabSz="685800">
              <a:lnSpc>
                <a:spcPct val="90000"/>
              </a:lnSpc>
              <a:spcBef>
                <a:spcPts val="750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Creates the backend systems that process your camera feed and uploaded photos in real-time</a:t>
            </a:r>
            <a:endParaRPr lang="en-US" b="0" i="0" dirty="0">
              <a:solidFill>
                <a:schemeClr val="tx1">
                  <a:lumMod val="65000"/>
                  <a:lumOff val="35000"/>
                </a:schemeClr>
              </a:solidFill>
              <a:effectLst/>
            </a:endParaRPr>
          </a:p>
          <a:p>
            <a:pPr marL="171450" indent="-171450" defTabSz="685800">
              <a:lnSpc>
                <a:spcPct val="90000"/>
              </a:lnSpc>
              <a:spcBef>
                <a:spcPts val="750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Builds the database that stores everything - clothing catalogs, user preferences, and analytics</a:t>
            </a:r>
            <a:endParaRPr lang="en-US" b="0" i="0" dirty="0">
              <a:solidFill>
                <a:schemeClr val="tx1">
                  <a:lumMod val="65000"/>
                  <a:lumOff val="35000"/>
                </a:schemeClr>
              </a:solidFill>
              <a:effectLst/>
            </a:endParaRPr>
          </a:p>
          <a:p>
            <a:pPr marL="171450" indent="-171450" defTabSz="685800">
              <a:lnSpc>
                <a:spcPct val="90000"/>
              </a:lnSpc>
              <a:spcBef>
                <a:spcPts val="750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Handles integration with AWS/Firebase so the app can scale when thousands of people use it</a:t>
            </a:r>
            <a:endParaRPr lang="en-US" b="0" i="0" dirty="0">
              <a:solidFill>
                <a:schemeClr val="tx1">
                  <a:lumMod val="65000"/>
                  <a:lumOff val="35000"/>
                </a:schemeClr>
              </a:solidFill>
              <a:effectLst/>
            </a:endParaRPr>
          </a:p>
          <a:p>
            <a:pPr marL="171450" indent="-171450" defTabSz="685800">
              <a:lnSpc>
                <a:spcPct val="90000"/>
              </a:lnSpc>
              <a:spcBef>
                <a:spcPts val="750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Implements security measures to protect user data and ensures we comply with privacy laws</a:t>
            </a:r>
            <a:endParaRPr lang="en-US" b="0" i="0" dirty="0">
              <a:solidFill>
                <a:schemeClr val="tx1">
                  <a:lumMod val="65000"/>
                  <a:lumOff val="35000"/>
                </a:schemeClr>
              </a:solidFill>
              <a:effectLst/>
            </a:endParaRPr>
          </a:p>
        </p:txBody>
      </p:sp>
      <p:sp>
        <p:nvSpPr>
          <p:cNvPr id="1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24074" y="6492875"/>
            <a:ext cx="289477" cy="365125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>
              <a:spcAft>
                <a:spcPts val="600"/>
              </a:spcAft>
            </a:pPr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28650" y="2"/>
            <a:ext cx="7886700" cy="812849"/>
          </a:xfrm>
        </p:spPr>
        <p:txBody>
          <a:bodyPr anchor="ctr">
            <a:normAutofit/>
          </a:bodyPr>
          <a:lstStyle/>
          <a:p>
            <a:r>
              <a:rPr lang="en-IN" sz="2500" dirty="0"/>
              <a:t>Team Size, Background, Strength /Capability and Resources</a:t>
            </a:r>
            <a:endParaRPr lang="en-IN" sz="2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Market Landscape - Market Potential, Competitors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7966" y="1015543"/>
            <a:ext cx="8419633" cy="5051427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sz="2400" b="1" dirty="0">
                <a:solidFill>
                  <a:schemeClr val="tx1"/>
                </a:solidFill>
              </a:rPr>
              <a:t>Market Potential</a:t>
            </a:r>
            <a:endParaRPr lang="en-US" sz="2400" b="1" dirty="0">
              <a:solidFill>
                <a:schemeClr val="tx1"/>
              </a:solidFill>
            </a:endParaRPr>
          </a:p>
          <a:p>
            <a:r>
              <a:rPr lang="en-US" sz="2000" b="1" dirty="0"/>
              <a:t>Size (Total Spend of Market You’re Addressing):</a:t>
            </a:r>
            <a:br>
              <a:rPr lang="en-US" sz="2000" dirty="0"/>
            </a:br>
            <a:r>
              <a:rPr lang="en-US" sz="2000" dirty="0"/>
              <a:t>The </a:t>
            </a:r>
            <a:r>
              <a:rPr lang="en-US" sz="2000" b="1" dirty="0"/>
              <a:t>Virtual Apparel Try-On and Fashion Tech market</a:t>
            </a:r>
            <a:r>
              <a:rPr lang="en-US" sz="2000" dirty="0"/>
              <a:t> in India is rapidly growing, driven by the surge in online shopping. The </a:t>
            </a:r>
            <a:r>
              <a:rPr lang="en-US" sz="2000" b="1" dirty="0"/>
              <a:t>AI and AR-based virtual fitting market</a:t>
            </a:r>
            <a:r>
              <a:rPr lang="en-US" sz="2000" dirty="0"/>
              <a:t> is estimated at </a:t>
            </a:r>
            <a:r>
              <a:rPr lang="en-US" sz="2000" b="1" dirty="0"/>
              <a:t>₹800 – ₹1,000 crores annually</a:t>
            </a:r>
            <a:r>
              <a:rPr lang="en-US" sz="2000" dirty="0"/>
              <a:t>, with strong adoption expected among online fashion retailers and D2C apparel </a:t>
            </a:r>
            <a:r>
              <a:rPr lang="en-US" sz="2000" dirty="0" err="1"/>
              <a:t>brands.This</a:t>
            </a:r>
            <a:r>
              <a:rPr lang="en-US" sz="2000" dirty="0"/>
              <a:t> estimate is based on an </a:t>
            </a:r>
            <a:r>
              <a:rPr lang="en-US" sz="2000" b="1" dirty="0"/>
              <a:t>average annual spend of ₹1–3 lakhs per brand</a:t>
            </a:r>
            <a:r>
              <a:rPr lang="en-US" sz="2000" dirty="0"/>
              <a:t> for integrating AR/AI-based try-on features across </a:t>
            </a:r>
            <a:r>
              <a:rPr lang="en-US" sz="2000" b="1" dirty="0"/>
              <a:t>25,000+ small to mid-sized apparel retailers and online boutiques</a:t>
            </a:r>
            <a:r>
              <a:rPr lang="en-US" sz="2000" dirty="0"/>
              <a:t> in India.</a:t>
            </a:r>
            <a:endParaRPr lang="en-US" sz="2000" dirty="0"/>
          </a:p>
          <a:p>
            <a:endParaRPr lang="en-US" sz="2000" dirty="0"/>
          </a:p>
          <a:p>
            <a:r>
              <a:rPr lang="en-US" sz="2000" b="1" dirty="0"/>
              <a:t>Customer Size Based on ICP Demographics: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Small to mid-sized apparel businesses</a:t>
            </a:r>
            <a:r>
              <a:rPr lang="en-US" sz="2000" dirty="0"/>
              <a:t> (5–50 employees) selling through </a:t>
            </a:r>
            <a:r>
              <a:rPr lang="en-US" sz="2000" b="1" dirty="0"/>
              <a:t>Instagram, Shopify, or online marketplaces.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Focus on </a:t>
            </a:r>
            <a:r>
              <a:rPr lang="en-US" sz="2000" b="1" dirty="0"/>
              <a:t>urban fashion hubs</a:t>
            </a:r>
            <a:r>
              <a:rPr lang="en-US" sz="2000" dirty="0"/>
              <a:t> such as </a:t>
            </a:r>
            <a:r>
              <a:rPr lang="en-US" sz="2000" b="1" dirty="0"/>
              <a:t>Bengaluru, Mumbai, Delhi, and Hyderabad</a:t>
            </a:r>
            <a:r>
              <a:rPr lang="en-US" sz="2000" dirty="0"/>
              <a:t>, where digital fashion innovation adoption is highest.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Expandable market to </a:t>
            </a:r>
            <a:r>
              <a:rPr lang="en-US" sz="2000" b="1" dirty="0"/>
              <a:t>50,000+ apparel retailers and e-commerce sellers</a:t>
            </a:r>
            <a:r>
              <a:rPr lang="en-US" sz="2000" dirty="0"/>
              <a:t> across </a:t>
            </a:r>
            <a:r>
              <a:rPr lang="en-US" sz="2000" b="1" dirty="0"/>
              <a:t>India and the Asia-Pacific region</a:t>
            </a:r>
            <a:r>
              <a:rPr lang="en-US" sz="2000" dirty="0"/>
              <a:t> adopting AR try-on to enhance customer experience.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Market Landscape - Market Potential, Competitors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22768" y="1175201"/>
            <a:ext cx="7898466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Competitors</a:t>
            </a:r>
            <a:endParaRPr lang="en-IN" sz="2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IN" sz="2000" dirty="0" err="1"/>
              <a:t>Freshteam</a:t>
            </a:r>
            <a:r>
              <a:rPr lang="en-IN" sz="2000" dirty="0"/>
              <a:t> by </a:t>
            </a:r>
            <a:r>
              <a:rPr lang="en-IN" sz="2000" dirty="0" err="1"/>
              <a:t>Freshworks</a:t>
            </a:r>
            <a:endParaRPr lang="en-IN" sz="2000" dirty="0"/>
          </a:p>
          <a:p>
            <a:r>
              <a:rPr lang="en-IN" sz="2000" dirty="0"/>
              <a:t>Zoho People</a:t>
            </a:r>
            <a:endParaRPr lang="en-IN" sz="2000" dirty="0"/>
          </a:p>
          <a:p>
            <a:r>
              <a:rPr lang="en-IN" sz="2000" dirty="0"/>
              <a:t>SAP SuccessFactors</a:t>
            </a:r>
            <a:endParaRPr lang="en-IN" sz="2000" dirty="0"/>
          </a:p>
          <a:p>
            <a:r>
              <a:rPr lang="en-IN" sz="2000" dirty="0"/>
              <a:t>People Hum</a:t>
            </a:r>
            <a:endParaRPr lang="en-IN" sz="2000" dirty="0"/>
          </a:p>
          <a:p>
            <a:r>
              <a:rPr lang="en-IN" sz="2000" dirty="0" err="1"/>
              <a:t>Darwinbox</a:t>
            </a:r>
            <a:endParaRPr lang="en-IN" sz="2000" dirty="0"/>
          </a:p>
          <a:p>
            <a:r>
              <a:rPr lang="en-IN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Uniqueness Compared to Competition:</a:t>
            </a:r>
            <a:endParaRPr lang="en-IN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IN" sz="2000" dirty="0"/>
              <a:t>AI-first approach for onboarding FAQs and exit interviews</a:t>
            </a:r>
            <a:endParaRPr lang="en-IN" sz="2000" dirty="0"/>
          </a:p>
          <a:p>
            <a:r>
              <a:rPr lang="en-IN" sz="2000" dirty="0"/>
              <a:t>Sentiment analysis and feedback summarization</a:t>
            </a:r>
            <a:endParaRPr lang="en-IN" sz="2000" dirty="0"/>
          </a:p>
          <a:p>
            <a:r>
              <a:rPr lang="en-IN" sz="2000" dirty="0"/>
              <a:t>Lightweight integration with existing HRMS and collaboration tools</a:t>
            </a:r>
            <a:endParaRPr lang="en-IN" sz="2000" dirty="0"/>
          </a:p>
          <a:p>
            <a:r>
              <a:rPr lang="en-IN" sz="2000" dirty="0"/>
              <a:t>Focus on SMEs with smaller budgets (₹2–5 lakhs/year) rather than enterprise-only solutions</a:t>
            </a:r>
            <a:endParaRPr lang="en-IN" sz="2000" dirty="0"/>
          </a:p>
          <a:p>
            <a:r>
              <a:rPr lang="en-IN" sz="2000" dirty="0"/>
              <a:t>Flexible deployment: cloud-based, API-driven, and multilingual support</a:t>
            </a:r>
            <a:endParaRPr lang="en-IN" sz="2000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/>
              <a:t>Business Model &amp; Strategy</a:t>
            </a:r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348342" y="1028343"/>
            <a:ext cx="9768115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Pricing Model Options:</a:t>
            </a:r>
            <a:endParaRPr lang="en-US" b="1" dirty="0"/>
          </a:p>
          <a:p>
            <a:pPr>
              <a:buNone/>
            </a:pPr>
            <a:r>
              <a:rPr lang="en-US" b="1" dirty="0"/>
              <a:t>Monthly / Annual Subscription (Primary Model)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Monthly Plan:</a:t>
            </a:r>
            <a:r>
              <a:rPr lang="en-US" dirty="0"/>
              <a:t> ₹10,000 – ₹20,000/month (based on number of shirt models, storage, and integrations)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Annual Plan:</a:t>
            </a:r>
            <a:r>
              <a:rPr lang="en-US" dirty="0"/>
              <a:t> ₹1 – ₹2 lakhs/year (discounted for annual payments)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Includes: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Access to AR/AI-powered virtual try-on platform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Integration with retailer’s website or Instagram Shop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Dashboard for analytics (user engagement, conversion tracking)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Basic technical support and software updates</a:t>
            </a:r>
            <a:endParaRPr lang="en-US" dirty="0"/>
          </a:p>
          <a:p>
            <a:pPr lvl="1"/>
            <a:endParaRPr lang="en-US" dirty="0"/>
          </a:p>
          <a:p>
            <a:pPr>
              <a:buNone/>
            </a:pPr>
            <a:r>
              <a:rPr lang="en-US" b="1" dirty="0"/>
              <a:t> Pay-per-Use (Optional Add-on)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Ideal for small boutiques and trial users.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₹5 – ₹10 per virtual try-on session or per customer preview</a:t>
            </a:r>
            <a:r>
              <a:rPr lang="en-US" dirty="0"/>
              <a:t> beyond included quota.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Additional charges for: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HD rendering and personalized fitting snapshots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Branded customization and advanced analytics reports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/>
              <a:t>Business Model &amp; Strategy</a:t>
            </a:r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261256" y="549371"/>
            <a:ext cx="9260116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endParaRPr lang="en-US" dirty="0"/>
          </a:p>
          <a:p>
            <a:r>
              <a:rPr lang="en-US" b="1" dirty="0"/>
              <a:t> Freemium Model (Optional for Startups / Small Boutiques)</a:t>
            </a:r>
            <a:endParaRPr lang="en-US" b="1" dirty="0"/>
          </a:p>
          <a:p>
            <a:r>
              <a:rPr lang="en-US" b="1" dirty="0"/>
              <a:t>Free basic plan</a:t>
            </a:r>
            <a:r>
              <a:rPr lang="en-US" dirty="0"/>
              <a:t> for small retailers (&lt;10 products).</a:t>
            </a:r>
            <a:endParaRPr lang="en-US" dirty="0"/>
          </a:p>
          <a:p>
            <a:r>
              <a:rPr lang="en-US" dirty="0"/>
              <a:t>Allows limited virtual try-ons using a default shirt catalog.</a:t>
            </a:r>
            <a:endParaRPr lang="en-US" dirty="0"/>
          </a:p>
          <a:p>
            <a:r>
              <a:rPr lang="en-US" dirty="0"/>
              <a:t>Paid upgrades unlock:</a:t>
            </a:r>
            <a:endParaRPr lang="en-US" dirty="0"/>
          </a:p>
          <a:p>
            <a:pPr lvl="1"/>
            <a:r>
              <a:rPr lang="en-US" dirty="0"/>
              <a:t>Custom shirt uploads</a:t>
            </a:r>
            <a:endParaRPr lang="en-US" dirty="0"/>
          </a:p>
          <a:p>
            <a:pPr lvl="1"/>
            <a:r>
              <a:rPr lang="en-US" dirty="0"/>
              <a:t>Brand logo integration</a:t>
            </a:r>
            <a:endParaRPr lang="en-US" dirty="0"/>
          </a:p>
          <a:p>
            <a:pPr lvl="1"/>
            <a:r>
              <a:rPr lang="en-US" dirty="0"/>
              <a:t>Advanced visualization and AR depth mapping features</a:t>
            </a:r>
            <a:endParaRPr lang="en-US" dirty="0"/>
          </a:p>
          <a:p>
            <a:r>
              <a:rPr lang="en-US" b="1" dirty="0"/>
              <a:t> One-time License (Enterprise / White-Label Model)</a:t>
            </a:r>
            <a:endParaRPr lang="en-US" b="1" dirty="0"/>
          </a:p>
          <a:p>
            <a:r>
              <a:rPr lang="en-US" dirty="0"/>
              <a:t>For large fashion brands or e-commerce platforms wanting </a:t>
            </a:r>
            <a:r>
              <a:rPr lang="en-US" b="1" dirty="0"/>
              <a:t>self-hosted or white-labeled solutions</a:t>
            </a:r>
            <a:r>
              <a:rPr lang="en-US" dirty="0"/>
              <a:t>.</a:t>
            </a:r>
            <a:endParaRPr lang="en-US" dirty="0"/>
          </a:p>
          <a:p>
            <a:r>
              <a:rPr lang="en-US" b="1" dirty="0"/>
              <a:t>Pricing:</a:t>
            </a:r>
            <a:r>
              <a:rPr lang="en-US" dirty="0"/>
              <a:t> ₹50,000 – ₹1,00,000 per license (based on customization and integration scope).</a:t>
            </a:r>
            <a:endParaRPr lang="en-US" dirty="0"/>
          </a:p>
          <a:p>
            <a:r>
              <a:rPr lang="en-US" dirty="0"/>
              <a:t>Includes:</a:t>
            </a:r>
            <a:endParaRPr lang="en-US" dirty="0"/>
          </a:p>
          <a:p>
            <a:pPr lvl="1"/>
            <a:r>
              <a:rPr lang="en-US" dirty="0"/>
              <a:t>On-premise deployment</a:t>
            </a:r>
            <a:endParaRPr lang="en-US" dirty="0"/>
          </a:p>
          <a:p>
            <a:pPr lvl="1"/>
            <a:r>
              <a:rPr lang="en-US" dirty="0"/>
              <a:t>API integration with existing e-commerce system</a:t>
            </a:r>
            <a:endParaRPr lang="en-US" dirty="0"/>
          </a:p>
          <a:p>
            <a:pPr lvl="1"/>
            <a:r>
              <a:rPr lang="en-US" dirty="0"/>
              <a:t>Full control over data and brand design</a:t>
            </a:r>
            <a:endParaRPr lang="en-US" dirty="0"/>
          </a:p>
          <a:p>
            <a:r>
              <a:rPr lang="en-US" b="1" dirty="0"/>
              <a:t>Revenue Growth Potential</a:t>
            </a:r>
            <a:endParaRPr lang="en-US" b="1" dirty="0"/>
          </a:p>
          <a:p>
            <a:r>
              <a:rPr lang="en-US" b="1" dirty="0"/>
              <a:t>Year 1:</a:t>
            </a:r>
            <a:r>
              <a:rPr lang="en-US" dirty="0"/>
              <a:t> Focus on small boutiques and local fashion stores (pilot phase).</a:t>
            </a:r>
            <a:endParaRPr lang="en-US" dirty="0"/>
          </a:p>
          <a:p>
            <a:r>
              <a:rPr lang="en-US" b="1" dirty="0"/>
              <a:t>Year 2–3:</a:t>
            </a:r>
            <a:r>
              <a:rPr lang="en-US" dirty="0"/>
              <a:t> Expand to mid-size online retailers and fashion chains.</a:t>
            </a:r>
            <a:endParaRPr lang="en-US" dirty="0"/>
          </a:p>
          <a:p>
            <a:r>
              <a:rPr lang="en-US" b="1" dirty="0"/>
              <a:t>Long-Term:</a:t>
            </a:r>
            <a:r>
              <a:rPr lang="en-US" dirty="0"/>
              <a:t> Introduce full-body virtual try-on and integrate with major e-commerce platforms (Amazon, Myntra, Shopify).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"/>
            <a:ext cx="7886700" cy="812849"/>
          </a:xfrm>
        </p:spPr>
        <p:txBody>
          <a:bodyPr anchor="ctr">
            <a:normAutofit/>
          </a:bodyPr>
          <a:lstStyle/>
          <a:p>
            <a:r>
              <a:rPr lang="en-IN" dirty="0"/>
              <a:t>Business Model &amp; Strategy</a:t>
            </a:r>
            <a:endParaRPr lang="en-IN" dirty="0"/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24074" y="6492875"/>
            <a:ext cx="289477" cy="365125"/>
          </a:xfrm>
        </p:spPr>
        <p:txBody>
          <a:bodyPr anchor="ctr">
            <a:normAutofit lnSpcReduction="10000"/>
          </a:bodyPr>
          <a:lstStyle/>
          <a:p>
            <a:pPr>
              <a:spcAft>
                <a:spcPts val="600"/>
              </a:spcAft>
            </a:pPr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2767" y="1407887"/>
          <a:ext cx="7886703" cy="454297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500132"/>
                <a:gridCol w="1606613"/>
                <a:gridCol w="1607655"/>
                <a:gridCol w="1580157"/>
                <a:gridCol w="1592146"/>
              </a:tblGrid>
              <a:tr h="3912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Year</a:t>
                      </a:r>
                      <a:endParaRPr lang="en-IN" sz="1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17814" marR="48540" marT="58907" marB="58907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Target Customers</a:t>
                      </a:r>
                      <a:endParaRPr lang="en-IN" sz="1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17814" marR="48540" marT="58907" marB="58907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Pricing Model Mix</a:t>
                      </a:r>
                      <a:endParaRPr lang="en-IN" sz="1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17814" marR="48540" marT="58907" marB="58907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Estimated Revenue (₹)</a:t>
                      </a:r>
                      <a:endParaRPr lang="en-IN" sz="1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17814" marR="48540" marT="58907" marB="58907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Key Focus / Milestones</a:t>
                      </a:r>
                      <a:endParaRPr lang="en-IN" sz="1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17814" marR="48540" marT="58907" marB="58907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</a:tr>
              <a:tr h="790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Year 1</a:t>
                      </a:r>
                      <a:endParaRPr lang="en-IN" sz="1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17814" marR="48540" marT="58907" marB="58907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10–15 small fashion boutiques</a:t>
                      </a:r>
                      <a:endParaRPr lang="en-IN" sz="1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17814" marR="48540" marT="58907" marB="58907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Freemium + Basic Monthly Plans</a:t>
                      </a:r>
                      <a:endParaRPr lang="en-IN" sz="1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17814" marR="48540" marT="58907" marB="58907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₹2 – ₹3 lakhs</a:t>
                      </a:r>
                      <a:endParaRPr lang="en-IN" sz="1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17814" marR="48540" marT="58907" marB="58907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Prototype testing, early customer onboarding, collecting feedback</a:t>
                      </a:r>
                      <a:endParaRPr lang="en-US" sz="1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17814" marR="48540" marT="58907" marB="58907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</a:tr>
              <a:tr h="790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Year 2</a:t>
                      </a:r>
                      <a:endParaRPr lang="en-IN" sz="1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17814" marR="48540" marT="58907" marB="58907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30–40 boutique stores &amp; local retailers</a:t>
                      </a:r>
                      <a:endParaRPr lang="en-IN" sz="1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17814" marR="48540" marT="58907" marB="58907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Monthly / Annual Subscriptions</a:t>
                      </a:r>
                      <a:endParaRPr lang="en-IN" sz="1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17814" marR="48540" marT="58907" marB="58907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₹6 – ₹8 lakhs</a:t>
                      </a:r>
                      <a:endParaRPr lang="en-IN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17814" marR="48540" marT="58907" marB="58907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Product refinement, marketing expansion, improve try-on accuracy</a:t>
                      </a:r>
                      <a:endParaRPr lang="en-US" sz="1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17814" marR="48540" marT="58907" marB="58907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</a:tr>
              <a:tr h="5908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Year 3</a:t>
                      </a:r>
                      <a:endParaRPr lang="en-IN" sz="1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17814" marR="48540" marT="58907" marB="58907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75–100 online apparel sellers</a:t>
                      </a:r>
                      <a:endParaRPr lang="en-IN" sz="1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17814" marR="48540" marT="58907" marB="58907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Annual Subscriptions + Pay-per-Use</a:t>
                      </a:r>
                      <a:endParaRPr lang="en-IN" sz="1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17814" marR="48540" marT="58907" marB="58907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₹15 – ₹20 lakhs</a:t>
                      </a:r>
                      <a:endParaRPr lang="en-IN" sz="1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17814" marR="48540" marT="58907" marB="58907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Add dashboard analytics, expand to multiple cities</a:t>
                      </a:r>
                      <a:endParaRPr lang="en-US" sz="1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17814" marR="48540" marT="58907" marB="58907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</a:tr>
              <a:tr h="790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Year 4</a:t>
                      </a:r>
                      <a:endParaRPr lang="en-IN" sz="1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17814" marR="48540" marT="58907" marB="58907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150–200 apparel retailers &amp; small brands</a:t>
                      </a:r>
                      <a:endParaRPr lang="en-US" sz="1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17814" marR="48540" marT="58907" marB="58907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Subscriptions + Enterprise Licenses</a:t>
                      </a:r>
                      <a:endParaRPr lang="en-IN" sz="1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17814" marR="48540" marT="58907" marB="58907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₹25 – ₹35 lakhs</a:t>
                      </a:r>
                      <a:endParaRPr lang="en-IN" sz="1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17814" marR="48540" marT="58907" marB="58907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Strategic partnerships, introduce 3D fit and texture simulation</a:t>
                      </a:r>
                      <a:endParaRPr lang="en-US" sz="1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17814" marR="48540" marT="58907" marB="58907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</a:tr>
              <a:tr h="11896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Year 5</a:t>
                      </a:r>
                      <a:endParaRPr lang="en-IN" sz="1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17814" marR="48540" marT="58907" marB="58907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300+ national &amp; regional fashion brands</a:t>
                      </a:r>
                      <a:endParaRPr lang="en-IN" sz="1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17814" marR="48540" marT="58907" marB="58907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Mix of all models</a:t>
                      </a:r>
                      <a:endParaRPr lang="en-IN" sz="1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17814" marR="48540" marT="58907" marB="58907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₹45 – ₹60 lakhs</a:t>
                      </a:r>
                      <a:endParaRPr lang="en-IN" sz="1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17814" marR="48540" marT="58907" marB="58907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Scale operations, integrate with e-commerce platforms (Shopify, Amazon Fashion)</a:t>
                      </a:r>
                      <a:endParaRPr lang="en-US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17814" marR="48540" marT="58907" marB="58907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2766" y="812851"/>
            <a:ext cx="53426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Revenue Forecast (Illustrative – Start-up Stage)</a:t>
            </a:r>
            <a:endParaRPr lang="en-IN" sz="2000" b="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dirty="0">
                <a:sym typeface="+mn-ea"/>
              </a:rPr>
              <a:t>Business Model &amp; Strategy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482" y="812616"/>
            <a:ext cx="7886700" cy="4351338"/>
          </a:xfrm>
        </p:spPr>
        <p:txBody>
          <a:bodyPr>
            <a:normAutofit fontScale="25000"/>
          </a:bodyPr>
          <a:p>
            <a:pPr marL="0" indent="0">
              <a:buNone/>
            </a:pPr>
            <a:r>
              <a:rPr lang="en-US" altLang="en-US" sz="6400" b="1"/>
              <a:t>Channels (Go-to-Market Approach</a:t>
            </a:r>
            <a:r>
              <a:rPr lang="en-IN" altLang="en-US" sz="6400" b="1"/>
              <a:t>) </a:t>
            </a:r>
            <a:endParaRPr lang="en-US" altLang="en-US" b="1"/>
          </a:p>
          <a:p>
            <a:r>
              <a:rPr lang="en-US" altLang="en-US" sz="6400"/>
              <a:t>B2B (Primary Channel)</a:t>
            </a:r>
            <a:endParaRPr lang="en-US" altLang="en-US" sz="6400"/>
          </a:p>
          <a:p>
            <a:r>
              <a:rPr lang="en-US" altLang="en-US" sz="6400"/>
              <a:t>Selling the try-on system directly to:</a:t>
            </a:r>
            <a:endParaRPr lang="en-US" altLang="en-US" sz="6400"/>
          </a:p>
          <a:p>
            <a:r>
              <a:rPr lang="en-US" altLang="en-US" sz="6400"/>
              <a:t>Boutique stores</a:t>
            </a:r>
            <a:endParaRPr lang="en-US" altLang="en-US" sz="6400"/>
          </a:p>
          <a:p>
            <a:r>
              <a:rPr lang="en-US" altLang="en-US" sz="6400"/>
              <a:t>Instagram/Shopify apparel sellers</a:t>
            </a:r>
            <a:endParaRPr lang="en-US" altLang="en-US" sz="6400"/>
          </a:p>
          <a:p>
            <a:r>
              <a:rPr lang="en-US" altLang="en-US" sz="6400"/>
              <a:t>Small to mid-sized online clothing brands</a:t>
            </a:r>
            <a:endParaRPr lang="en-US" altLang="en-US" sz="6400"/>
          </a:p>
          <a:p>
            <a:r>
              <a:rPr lang="en-US" altLang="en-US" sz="6400"/>
              <a:t>E-commerce startups</a:t>
            </a:r>
            <a:endParaRPr lang="en-US" altLang="en-US" sz="6400"/>
          </a:p>
          <a:p>
            <a:pPr marL="0" indent="0">
              <a:buNone/>
            </a:pPr>
            <a:r>
              <a:rPr lang="en-US" altLang="en-US" sz="6400" b="1"/>
              <a:t>Methods:</a:t>
            </a:r>
            <a:endParaRPr lang="en-US" altLang="en-US" sz="6400" b="1"/>
          </a:p>
          <a:p>
            <a:r>
              <a:rPr lang="en-US" altLang="en-US" sz="6400"/>
              <a:t>Direct sales</a:t>
            </a:r>
            <a:endParaRPr lang="en-US" altLang="en-US" sz="6400"/>
          </a:p>
          <a:p>
            <a:r>
              <a:rPr lang="en-US" altLang="en-US" sz="6400"/>
              <a:t>Website demos</a:t>
            </a:r>
            <a:endParaRPr lang="en-US" altLang="en-US" sz="6400"/>
          </a:p>
          <a:p>
            <a:r>
              <a:rPr lang="en-US" altLang="en-US" sz="6400"/>
              <a:t>Cold outreach to fashion retailers</a:t>
            </a:r>
            <a:endParaRPr lang="en-US" altLang="en-US" sz="6400"/>
          </a:p>
          <a:p>
            <a:r>
              <a:rPr lang="en-US" altLang="en-US" sz="6400"/>
              <a:t>B2B partnerships (Shopify apps, Instagram store tools)</a:t>
            </a:r>
            <a:endParaRPr lang="en-US" altLang="en-US" sz="6400"/>
          </a:p>
          <a:p>
            <a:r>
              <a:rPr lang="en-US" altLang="en-US" sz="6400"/>
              <a:t>B2C (Secondary / Long Term)</a:t>
            </a:r>
            <a:endParaRPr lang="en-US" altLang="en-US" sz="6400"/>
          </a:p>
          <a:p>
            <a:r>
              <a:rPr lang="en-US" altLang="en-US" sz="6400"/>
              <a:t>Providing the try-on interface directly to end-users through:</a:t>
            </a:r>
            <a:endParaRPr lang="en-US" altLang="en-US" sz="6400"/>
          </a:p>
          <a:p>
            <a:r>
              <a:rPr lang="en-US" altLang="en-US" sz="6400"/>
              <a:t>Integrated retailer websites</a:t>
            </a:r>
            <a:endParaRPr lang="en-US" altLang="en-US" sz="6400"/>
          </a:p>
          <a:p>
            <a:r>
              <a:rPr lang="en-US" altLang="en-US" sz="6400"/>
              <a:t>Mobile-friendly try-on tool</a:t>
            </a:r>
            <a:endParaRPr lang="en-US" altLang="en-US" sz="6400"/>
          </a:p>
          <a:p>
            <a:r>
              <a:rPr lang="en-US" altLang="en-US" sz="6400"/>
              <a:t>Social media try-on experience (Instagram filter / embedded try-on)</a:t>
            </a:r>
            <a:endParaRPr lang="en-US" altLang="en-US" sz="64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>
                <a:sym typeface="+mn-ea"/>
              </a:rPr>
              <a:t>Total Budget, Required Support and Regulation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IN" altLang="en-US" sz="2000" b="1"/>
              <a:t>1.</a:t>
            </a:r>
            <a:r>
              <a:rPr lang="en-US" altLang="en-US" sz="2000" b="1"/>
              <a:t> Total Estimated Budget</a:t>
            </a:r>
            <a:endParaRPr lang="en-US" altLang="en-US" sz="2000" b="1"/>
          </a:p>
          <a:p>
            <a:pPr marL="0" indent="0">
              <a:buNone/>
            </a:pPr>
            <a:r>
              <a:rPr lang="en-US" altLang="en-US" sz="1600"/>
              <a:t>Total Budget Required: ₹3,50,000 – ₹5,00,00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This includes MVP development, scaling, deployment, and product launch preparation.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2000" b="1"/>
              <a:t>2</a:t>
            </a:r>
            <a:r>
              <a:rPr lang="en-IN" altLang="en-US" sz="2000" b="1"/>
              <a:t>.</a:t>
            </a:r>
            <a:r>
              <a:rPr lang="en-US" altLang="en-US" sz="2000" b="1"/>
              <a:t>Cost Breakdown (Different Heads)</a:t>
            </a:r>
            <a:endParaRPr lang="en-US" altLang="en-US" sz="2000" b="1"/>
          </a:p>
          <a:p>
            <a:pPr marL="0" indent="0" algn="l">
              <a:buNone/>
            </a:pPr>
            <a:r>
              <a:rPr lang="en-US" altLang="en-US" sz="1600"/>
              <a:t> Hardware / Infrastructure</a:t>
            </a:r>
            <a:endParaRPr lang="en-US" altLang="en-US" sz="1600"/>
          </a:p>
          <a:p>
            <a:pPr marL="0" indent="0" algn="l">
              <a:buNone/>
            </a:pPr>
            <a:r>
              <a:rPr lang="zh-CN" altLang="en-US" sz="1600"/>
              <a:t>🔹</a:t>
            </a:r>
            <a:r>
              <a:rPr lang="en-US" altLang="en-US" sz="1600"/>
              <a:t> Hardware / Infrastructure</a:t>
            </a:r>
            <a:endParaRPr lang="en-US" altLang="en-US" sz="1600"/>
          </a:p>
          <a:p>
            <a:pPr marL="0" indent="0" algn="l">
              <a:buNone/>
            </a:pPr>
            <a:r>
              <a:rPr lang="en-US" altLang="en-US" sz="1600" b="1"/>
              <a:t>Item</a:t>
            </a:r>
            <a:r>
              <a:rPr lang="en-IN" altLang="en-US" sz="1600" b="1"/>
              <a:t>   </a:t>
            </a:r>
            <a:r>
              <a:rPr lang="en-IN" altLang="en-US" sz="1600"/>
              <a:t>                                                                              </a:t>
            </a:r>
            <a:r>
              <a:rPr lang="en-US" altLang="en-US" sz="1600"/>
              <a:t>	</a:t>
            </a:r>
            <a:r>
              <a:rPr lang="en-US" altLang="en-US" sz="1600" b="1"/>
              <a:t>Cost (₹)</a:t>
            </a:r>
            <a:endParaRPr lang="en-US" altLang="en-US" sz="1600" b="1"/>
          </a:p>
          <a:p>
            <a:pPr marL="0" indent="0" algn="l">
              <a:buNone/>
            </a:pPr>
            <a:r>
              <a:rPr lang="en-US" altLang="en-US" sz="1600"/>
              <a:t>Cloud Hosting (AWS/Vercel)	</a:t>
            </a:r>
            <a:r>
              <a:rPr lang="en-IN" altLang="en-US" sz="1600"/>
              <a:t>                              </a:t>
            </a:r>
            <a:r>
              <a:rPr lang="en-US" altLang="en-US" sz="1600"/>
              <a:t>20,000 – 40,000</a:t>
            </a:r>
            <a:endParaRPr lang="en-US" altLang="en-US" sz="1600"/>
          </a:p>
          <a:p>
            <a:pPr marL="0" indent="0" algn="l">
              <a:buNone/>
            </a:pPr>
            <a:r>
              <a:rPr lang="en-US" altLang="en-US" sz="1600"/>
              <a:t>GPU Compute for Pose Detection (Optional)	30,000 – 50,000</a:t>
            </a:r>
            <a:endParaRPr lang="en-US" altLang="en-US" sz="1600"/>
          </a:p>
          <a:p>
            <a:pPr marL="0" indent="0" algn="l">
              <a:buNone/>
            </a:pPr>
            <a:r>
              <a:rPr lang="en-US" altLang="en-US" sz="1600"/>
              <a:t>Storage for Shirt Assets</a:t>
            </a:r>
            <a:r>
              <a:rPr lang="en-IN" altLang="en-US" sz="1600"/>
              <a:t>                                    </a:t>
            </a:r>
            <a:r>
              <a:rPr lang="en-US" altLang="en-US" sz="1600"/>
              <a:t>	5,000 – 10,000</a:t>
            </a:r>
            <a:endParaRPr lang="en-US" altLang="en-US" sz="1600"/>
          </a:p>
          <a:p>
            <a:pPr marL="0" indent="0" algn="l">
              <a:buNone/>
            </a:pPr>
            <a:r>
              <a:rPr lang="en-US" altLang="en-US" sz="1600"/>
              <a:t>Testing Devices (Mobile/Laptop)</a:t>
            </a:r>
            <a:r>
              <a:rPr lang="en-IN" altLang="en-US" sz="1600"/>
              <a:t>                   </a:t>
            </a:r>
            <a:r>
              <a:rPr lang="en-US" altLang="en-US" sz="1600"/>
              <a:t>	20,000 – 30,000</a:t>
            </a:r>
            <a:endParaRPr lang="en-US" altLang="en-US" sz="1600"/>
          </a:p>
          <a:p>
            <a:pPr marL="0" indent="0" algn="l">
              <a:buNone/>
            </a:pPr>
            <a:r>
              <a:rPr lang="en-US" altLang="en-US" sz="1600"/>
              <a:t>Subtotal: ₹75,000 – ₹1,20,000</a:t>
            </a:r>
            <a:endParaRPr lang="en-US" altLang="en-US" sz="1600"/>
          </a:p>
          <a:p>
            <a:pPr marL="0" indent="0" algn="l">
              <a:buNone/>
            </a:pPr>
            <a:endParaRPr lang="en-US" altLang="en-US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5" name="Table 4"/>
          <p:cNvGraphicFramePr/>
          <p:nvPr>
            <p:custDataLst>
              <p:tags r:id="rId1"/>
            </p:custDataLst>
          </p:nvPr>
        </p:nvGraphicFramePr>
        <p:xfrm>
          <a:off x="733425" y="5213350"/>
          <a:ext cx="7863840" cy="1005840"/>
        </p:xfrm>
        <a:graphic>
          <a:graphicData uri="http://schemas.openxmlformats.org/drawingml/2006/table">
            <a:tbl>
              <a:tblPr/>
              <a:tblGrid>
                <a:gridCol w="3931920"/>
                <a:gridCol w="3931920"/>
              </a:tblGrid>
              <a:tr h="167640">
                <a:tc>
                  <a:txBody>
                    <a:bodyPr/>
                    <a:p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67640">
                <a:tc>
                  <a:txBody>
                    <a:bodyPr/>
                    <a:p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67640">
                <a:tc>
                  <a:txBody>
                    <a:bodyPr/>
                    <a:p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67640">
                <a:tc>
                  <a:txBody>
                    <a:bodyPr/>
                    <a:p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67640">
                <a:tc>
                  <a:txBody>
                    <a:bodyPr/>
                    <a:p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67640">
                <a:tc>
                  <a:txBody>
                    <a:bodyPr/>
                    <a:p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>
                <a:sym typeface="+mn-ea"/>
              </a:rPr>
              <a:t>Total Budget, Required Support and Regulation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2767" y="812616"/>
            <a:ext cx="7886700" cy="4351338"/>
          </a:xfrm>
        </p:spPr>
        <p:txBody>
          <a:bodyPr>
            <a:noAutofit/>
          </a:bodyPr>
          <a:p>
            <a:pPr marL="0" indent="0">
              <a:buNone/>
            </a:pPr>
            <a:r>
              <a:rPr lang="zh-CN" altLang="en-US" sz="1600" b="1">
                <a:sym typeface="+mn-ea"/>
              </a:rPr>
              <a:t>🔹</a:t>
            </a:r>
            <a:r>
              <a:rPr lang="en-US" altLang="en-US" sz="1600" b="1">
                <a:sym typeface="+mn-ea"/>
              </a:rPr>
              <a:t> </a:t>
            </a:r>
            <a:r>
              <a:rPr lang="en-US" altLang="en-US" sz="1600" b="1"/>
              <a:t>Resources (Human Capital)</a:t>
            </a:r>
            <a:endParaRPr lang="en-US" altLang="en-US" sz="1600" b="1"/>
          </a:p>
          <a:p>
            <a:pPr marL="0" indent="0">
              <a:buNone/>
            </a:pPr>
            <a:r>
              <a:rPr lang="en-US" altLang="en-US" sz="1300" b="1"/>
              <a:t>Role	</a:t>
            </a:r>
            <a:r>
              <a:rPr lang="en-IN" altLang="en-US" sz="1300" b="1"/>
              <a:t>		</a:t>
            </a:r>
            <a:r>
              <a:rPr lang="en-US" altLang="en-US" sz="1300" b="1"/>
              <a:t>Duration</a:t>
            </a:r>
            <a:r>
              <a:rPr lang="en-IN" altLang="en-US" sz="1300" b="1"/>
              <a:t>                     </a:t>
            </a:r>
            <a:r>
              <a:rPr lang="en-US" altLang="en-US" sz="1300" b="1"/>
              <a:t>	Cost (₹)</a:t>
            </a:r>
            <a:endParaRPr lang="en-US" altLang="en-US" sz="1300" b="1"/>
          </a:p>
          <a:p>
            <a:pPr marL="0" indent="0">
              <a:buNone/>
            </a:pPr>
            <a:r>
              <a:rPr lang="en-US" altLang="en-US" sz="1300"/>
              <a:t>AI/AR Developer	</a:t>
            </a:r>
            <a:r>
              <a:rPr lang="en-IN" altLang="en-US" sz="1300"/>
              <a:t>	</a:t>
            </a:r>
            <a:r>
              <a:rPr lang="en-US" altLang="en-US" sz="1300"/>
              <a:t>2–3 months	80,000 – 1,20,000</a:t>
            </a:r>
            <a:endParaRPr lang="en-US" altLang="en-US" sz="1300"/>
          </a:p>
          <a:p>
            <a:pPr marL="0" indent="0">
              <a:buNone/>
            </a:pPr>
            <a:r>
              <a:rPr lang="en-US" altLang="en-US" sz="1300"/>
              <a:t>Frontend Developer</a:t>
            </a:r>
            <a:r>
              <a:rPr lang="en-IN" altLang="en-US" sz="1300"/>
              <a:t>	</a:t>
            </a:r>
            <a:r>
              <a:rPr lang="en-US" altLang="en-US" sz="1300"/>
              <a:t>	2 months	</a:t>
            </a:r>
            <a:r>
              <a:rPr lang="en-IN" altLang="en-US" sz="1300"/>
              <a:t>	</a:t>
            </a:r>
            <a:r>
              <a:rPr lang="en-US" altLang="en-US" sz="1300"/>
              <a:t>50,000 – 70,000</a:t>
            </a:r>
            <a:endParaRPr lang="en-US" altLang="en-US" sz="1300"/>
          </a:p>
          <a:p>
            <a:pPr marL="0" indent="0">
              <a:buNone/>
            </a:pPr>
            <a:r>
              <a:rPr lang="en-US" altLang="en-US" sz="1300"/>
              <a:t>Backend Developer</a:t>
            </a:r>
            <a:r>
              <a:rPr lang="en-IN" altLang="en-US" sz="1300"/>
              <a:t>	</a:t>
            </a:r>
            <a:r>
              <a:rPr lang="en-US" altLang="en-US" sz="1300"/>
              <a:t>	2 months	</a:t>
            </a:r>
            <a:r>
              <a:rPr lang="en-IN" altLang="en-US" sz="1300"/>
              <a:t>	</a:t>
            </a:r>
            <a:r>
              <a:rPr lang="en-US" altLang="en-US" sz="1300"/>
              <a:t>40,000 – 60,000</a:t>
            </a:r>
            <a:endParaRPr lang="en-US" altLang="en-US" sz="1300"/>
          </a:p>
          <a:p>
            <a:pPr marL="0" indent="0">
              <a:buNone/>
            </a:pPr>
            <a:r>
              <a:rPr lang="en-US" altLang="en-US" sz="1300"/>
              <a:t>UI/UX Designer	</a:t>
            </a:r>
            <a:r>
              <a:rPr lang="en-IN" altLang="en-US" sz="1300"/>
              <a:t>	</a:t>
            </a:r>
            <a:r>
              <a:rPr lang="en-US" altLang="en-US" sz="1300"/>
              <a:t>1 month	</a:t>
            </a:r>
            <a:r>
              <a:rPr lang="en-IN" altLang="en-US" sz="1300"/>
              <a:t>	</a:t>
            </a:r>
            <a:r>
              <a:rPr lang="en-US" altLang="en-US" sz="1300"/>
              <a:t>20,000 – 30,000</a:t>
            </a:r>
            <a:endParaRPr lang="en-US" altLang="en-US" sz="1300"/>
          </a:p>
          <a:p>
            <a:pPr marL="0" indent="0">
              <a:buNone/>
            </a:pPr>
            <a:r>
              <a:rPr lang="en-US" altLang="en-US" sz="1300"/>
              <a:t>Subtotal: ₹1,80,000 – ₹2,80,000		</a:t>
            </a:r>
            <a:endParaRPr lang="en-US" altLang="en-US" sz="1300"/>
          </a:p>
          <a:p>
            <a:pPr marL="0" indent="0">
              <a:buNone/>
            </a:pPr>
            <a:r>
              <a:rPr lang="zh-CN" altLang="en-US" sz="1600" b="1"/>
              <a:t>🔹</a:t>
            </a:r>
            <a:r>
              <a:rPr lang="en-US" altLang="en-US" sz="1600" b="1"/>
              <a:t> Marketing &amp; Promotion</a:t>
            </a:r>
            <a:endParaRPr lang="en-US" altLang="en-US" sz="1600" b="1"/>
          </a:p>
          <a:p>
            <a:pPr marL="0" indent="0">
              <a:buNone/>
            </a:pPr>
            <a:r>
              <a:rPr lang="en-US" altLang="en-US" sz="1300" b="1"/>
              <a:t>Item	</a:t>
            </a:r>
            <a:r>
              <a:rPr lang="en-IN" altLang="en-US" sz="1300" b="1"/>
              <a:t>		</a:t>
            </a:r>
            <a:r>
              <a:rPr lang="en-US" altLang="en-US" sz="1300" b="1"/>
              <a:t>Cost (₹)</a:t>
            </a:r>
            <a:endParaRPr lang="en-US" altLang="en-US" sz="1300" b="1"/>
          </a:p>
          <a:p>
            <a:pPr marL="0" indent="0">
              <a:buNone/>
            </a:pPr>
            <a:r>
              <a:rPr lang="en-US" altLang="en-US" sz="1300"/>
              <a:t>Social Media Ads</a:t>
            </a:r>
            <a:r>
              <a:rPr lang="en-IN" altLang="en-US" sz="1300"/>
              <a:t>	</a:t>
            </a:r>
            <a:r>
              <a:rPr lang="en-US" altLang="en-US" sz="1300"/>
              <a:t>	10,000 – 20,000</a:t>
            </a:r>
            <a:endParaRPr lang="en-US" altLang="en-US" sz="1300"/>
          </a:p>
          <a:p>
            <a:pPr marL="0" indent="0">
              <a:buNone/>
            </a:pPr>
            <a:r>
              <a:rPr lang="en-US" altLang="en-US" sz="1300"/>
              <a:t>Influencer Collaborations	5,000 – 15,000</a:t>
            </a:r>
            <a:endParaRPr lang="en-US" altLang="en-US" sz="1300"/>
          </a:p>
          <a:p>
            <a:pPr marL="0" indent="0">
              <a:buNone/>
            </a:pPr>
            <a:r>
              <a:rPr lang="en-US" altLang="en-US" sz="1300"/>
              <a:t>Product Video Production	10,000 – 15,000</a:t>
            </a:r>
            <a:endParaRPr lang="en-US" altLang="en-US" sz="1300"/>
          </a:p>
          <a:p>
            <a:pPr marL="0" indent="0">
              <a:buNone/>
            </a:pPr>
            <a:r>
              <a:rPr lang="en-US" altLang="en-US" sz="1300"/>
              <a:t>Subtotal: ₹25,000 – ₹50,000	</a:t>
            </a:r>
            <a:endParaRPr lang="en-US" altLang="en-US" sz="1300"/>
          </a:p>
          <a:p>
            <a:pPr marL="0" indent="0">
              <a:buNone/>
            </a:pPr>
            <a:r>
              <a:rPr lang="zh-CN" altLang="en-US" sz="1600" b="1"/>
              <a:t>🔹</a:t>
            </a:r>
            <a:r>
              <a:rPr lang="en-US" altLang="en-US" sz="1600" b="1"/>
              <a:t> Administrative Costs</a:t>
            </a:r>
            <a:endParaRPr lang="en-US" altLang="en-US" sz="1600" b="1"/>
          </a:p>
          <a:p>
            <a:pPr marL="0" indent="0">
              <a:buNone/>
            </a:pPr>
            <a:r>
              <a:rPr lang="en-US" altLang="en-US" sz="1300" b="1"/>
              <a:t>Item</a:t>
            </a:r>
            <a:r>
              <a:rPr lang="en-IN" altLang="en-US" sz="1300" b="1"/>
              <a:t>		</a:t>
            </a:r>
            <a:r>
              <a:rPr lang="en-US" altLang="en-US" sz="1300" b="1"/>
              <a:t>	Cost (₹)</a:t>
            </a:r>
            <a:endParaRPr lang="en-US" altLang="en-US" sz="1300" b="1"/>
          </a:p>
          <a:p>
            <a:pPr marL="0" indent="0">
              <a:buNone/>
            </a:pPr>
            <a:r>
              <a:rPr lang="en-US" altLang="en-US" sz="1300"/>
              <a:t>Domain + Website	</a:t>
            </a:r>
            <a:r>
              <a:rPr lang="en-IN" altLang="en-US" sz="1300"/>
              <a:t>	</a:t>
            </a:r>
            <a:r>
              <a:rPr lang="en-US" altLang="en-US" sz="1300"/>
              <a:t>2,000 – 5,000</a:t>
            </a:r>
            <a:endParaRPr lang="en-US" altLang="en-US" sz="1300"/>
          </a:p>
          <a:p>
            <a:pPr marL="0" indent="0">
              <a:buNone/>
            </a:pPr>
            <a:r>
              <a:rPr lang="en-US" altLang="en-US" sz="1300"/>
              <a:t>Legal/LLP Registration	5,000 – 15,000</a:t>
            </a:r>
            <a:endParaRPr lang="en-US" altLang="en-US" sz="1300"/>
          </a:p>
          <a:p>
            <a:pPr marL="0" indent="0">
              <a:buNone/>
            </a:pPr>
            <a:r>
              <a:rPr lang="en-US" altLang="en-US" sz="1300"/>
              <a:t>Miscellaneous	</a:t>
            </a:r>
            <a:r>
              <a:rPr lang="en-IN" altLang="en-US" sz="1300"/>
              <a:t>	</a:t>
            </a:r>
            <a:r>
              <a:rPr lang="en-US" altLang="en-US" sz="1300"/>
              <a:t>5,000 – 10,000</a:t>
            </a:r>
            <a:endParaRPr lang="en-US" altLang="en-US" sz="1300"/>
          </a:p>
          <a:p>
            <a:pPr marL="0" indent="0">
              <a:buNone/>
            </a:pPr>
            <a:r>
              <a:rPr lang="en-US" altLang="en-US" sz="1300"/>
              <a:t>Subtotal: ₹12,000 – ₹30,000</a:t>
            </a:r>
            <a:endParaRPr lang="en-US" altLang="en-US" sz="13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>
                <a:sym typeface="+mn-ea"/>
              </a:rPr>
              <a:t>Total Budget, Required Support and Regulation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2935" y="1175385"/>
            <a:ext cx="7886700" cy="4827905"/>
          </a:xfrm>
        </p:spPr>
        <p:txBody>
          <a:bodyPr>
            <a:normAutofit fontScale="65000"/>
          </a:bodyPr>
          <a:p>
            <a:pPr marL="0" indent="0">
              <a:buNone/>
            </a:pPr>
            <a:r>
              <a:rPr lang="en-IN" altLang="en-US"/>
              <a:t>3.</a:t>
            </a:r>
            <a:r>
              <a:rPr lang="en-US" altLang="en-US"/>
              <a:t> Budget for MVP Only</a:t>
            </a:r>
            <a:endParaRPr lang="en-US" altLang="en-US"/>
          </a:p>
          <a:p>
            <a:pPr marL="0" indent="0">
              <a:buNone/>
            </a:pPr>
            <a:r>
              <a:rPr lang="en-US" altLang="en-US" b="1"/>
              <a:t>Cost Category	Estimated Cost (₹)</a:t>
            </a:r>
            <a:endParaRPr lang="en-US" altLang="en-US" b="1"/>
          </a:p>
          <a:p>
            <a:pPr marL="0" indent="0">
              <a:buNone/>
            </a:pPr>
            <a:r>
              <a:rPr lang="en-US" altLang="en-US"/>
              <a:t>Basic AI try-on prototype	</a:t>
            </a:r>
            <a:r>
              <a:rPr lang="en-IN" altLang="en-US"/>
              <a:t>		</a:t>
            </a:r>
            <a:r>
              <a:rPr lang="en-US" altLang="en-US"/>
              <a:t>60,000 – 80,000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Frontend dashboard + camera module	20,000 – 30,000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Minimal backend (shirt upload)</a:t>
            </a:r>
            <a:r>
              <a:rPr lang="en-IN" altLang="en-US"/>
              <a:t>	</a:t>
            </a:r>
            <a:r>
              <a:rPr lang="en-US" altLang="en-US"/>
              <a:t>	10,000 – 20,000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Testing &amp; QA	</a:t>
            </a:r>
            <a:r>
              <a:rPr lang="en-IN" altLang="en-US"/>
              <a:t>			</a:t>
            </a:r>
            <a:r>
              <a:rPr lang="en-US" altLang="en-US"/>
              <a:t>5,000 – 10,000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Hosting for MVP	</a:t>
            </a:r>
            <a:r>
              <a:rPr lang="en-IN" altLang="en-US"/>
              <a:t>			</a:t>
            </a:r>
            <a:r>
              <a:rPr lang="en-US" altLang="en-US"/>
              <a:t>5,000 – 10,000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Total MVP Budget: ₹1,00,000 – ₹1,40,000	</a:t>
            </a:r>
            <a:endParaRPr lang="en-US" altLang="en-US"/>
          </a:p>
          <a:p>
            <a:pPr marL="0" indent="0">
              <a:buNone/>
            </a:pPr>
            <a:r>
              <a:rPr lang="en-IN" altLang="en-US" b="1"/>
              <a:t>4.</a:t>
            </a:r>
            <a:r>
              <a:rPr lang="en-US" altLang="en-US" b="1"/>
              <a:t> Budget for Final Product</a:t>
            </a:r>
            <a:endParaRPr lang="en-US" altLang="en-US" b="1"/>
          </a:p>
          <a:p>
            <a:pPr marL="0" indent="0">
              <a:buNone/>
            </a:pPr>
            <a:r>
              <a:rPr lang="en-US" altLang="en-US" b="1"/>
              <a:t>Component	</a:t>
            </a:r>
            <a:r>
              <a:rPr lang="en-IN" altLang="en-US" b="1"/>
              <a:t>		</a:t>
            </a:r>
            <a:r>
              <a:rPr lang="en-US" altLang="en-US" b="1"/>
              <a:t>Cost (₹)</a:t>
            </a:r>
            <a:endParaRPr lang="en-US" altLang="en-US" b="1"/>
          </a:p>
          <a:p>
            <a:pPr marL="0" indent="0">
              <a:buNone/>
            </a:pPr>
            <a:r>
              <a:rPr lang="en-US" altLang="en-US"/>
              <a:t>Full AR engine + warping model	80,000 – 1,20,000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Mobile optimization	</a:t>
            </a:r>
            <a:r>
              <a:rPr lang="en-IN" altLang="en-US"/>
              <a:t>	</a:t>
            </a:r>
            <a:r>
              <a:rPr lang="en-US" altLang="en-US"/>
              <a:t>20,000 – 40,000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Admin dashboard + analytics	30,000 – 50,000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Cloud scaling &amp; security	</a:t>
            </a:r>
            <a:r>
              <a:rPr lang="en-IN" altLang="en-US"/>
              <a:t>	</a:t>
            </a:r>
            <a:r>
              <a:rPr lang="en-US" altLang="en-US"/>
              <a:t>25,000 – 40,000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Marketing launch</a:t>
            </a:r>
            <a:r>
              <a:rPr lang="en-IN" altLang="en-US"/>
              <a:t>		</a:t>
            </a:r>
            <a:r>
              <a:rPr lang="en-US" altLang="en-US"/>
              <a:t>	25,000 – 50,000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Total Final Product Budget: ₹2,00,000 – ₹2,80,000	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Summary for the total budget</a:t>
            </a:r>
            <a:endParaRPr lang="en-I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b="1"/>
              <a:t>Total Budget:</a:t>
            </a:r>
            <a:r>
              <a:rPr lang="en-US" altLang="en-US"/>
              <a:t> ₹3.5–5 lakhs</a:t>
            </a:r>
            <a:endParaRPr lang="en-US" altLang="en-US"/>
          </a:p>
          <a:p>
            <a:pPr marL="0" indent="0">
              <a:buNone/>
            </a:pPr>
            <a:r>
              <a:rPr lang="en-US" altLang="en-US" b="1"/>
              <a:t>MVP Budget: </a:t>
            </a:r>
            <a:r>
              <a:rPr lang="en-US" altLang="en-US"/>
              <a:t>₹1–1.4 lakhs</a:t>
            </a:r>
            <a:endParaRPr lang="en-US" altLang="en-US"/>
          </a:p>
          <a:p>
            <a:pPr marL="0" indent="0">
              <a:buNone/>
            </a:pPr>
            <a:r>
              <a:rPr lang="en-US" altLang="en-US" b="1"/>
              <a:t>Final Product Budget:</a:t>
            </a:r>
            <a:r>
              <a:rPr lang="en-US" altLang="en-US"/>
              <a:t> ₹2–2.8 lakhs</a:t>
            </a:r>
            <a:endParaRPr lang="en-US" altLang="en-US"/>
          </a:p>
          <a:p>
            <a:pPr marL="0" indent="0">
              <a:buNone/>
            </a:pPr>
            <a:r>
              <a:rPr lang="en-US" altLang="en-US" b="1"/>
              <a:t>Cost Heads:</a:t>
            </a:r>
            <a:r>
              <a:rPr lang="en-US" altLang="en-US"/>
              <a:t> Infra, Resources, Marketing, Admin</a:t>
            </a:r>
            <a:endParaRPr lang="en-US" altLang="en-US"/>
          </a:p>
          <a:p>
            <a:pPr marL="0" indent="0">
              <a:buNone/>
            </a:pPr>
            <a:r>
              <a:rPr lang="en-US" altLang="en-US" b="1"/>
              <a:t>Support Needed:</a:t>
            </a:r>
            <a:r>
              <a:rPr lang="en-US" altLang="en-US"/>
              <a:t> Technical, Business, Marketing, Institutional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669812" y="2839330"/>
            <a:ext cx="380437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800" dirty="0"/>
              <a:t>🙏 </a:t>
            </a:r>
            <a:r>
              <a:rPr lang="en-IN" sz="4800" b="1" dirty="0"/>
              <a:t>Thank You</a:t>
            </a:r>
            <a:endParaRPr lang="en-IN" sz="48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TABLE_ENDDRAG_ORIGIN_RECT" val="619*5"/>
  <p:tag name="TABLE_ENDDRAG_RECT" val="51*406*619*6"/>
</p:tagLst>
</file>

<file path=ppt/theme/theme1.xml><?xml version="1.0" encoding="utf-8"?>
<a:theme xmlns:a="http://schemas.openxmlformats.org/drawingml/2006/main" name="5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14106</Words>
  <Application>WPS Presentation</Application>
  <PresentationFormat>On-screen Show (4:3)</PresentationFormat>
  <Paragraphs>415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2" baseType="lpstr">
      <vt:lpstr>Arial</vt:lpstr>
      <vt:lpstr>SimSun</vt:lpstr>
      <vt:lpstr>Wingdings</vt:lpstr>
      <vt:lpstr>Calibri</vt:lpstr>
      <vt:lpstr>Calibri Light</vt:lpstr>
      <vt:lpstr>Microsoft YaHei</vt:lpstr>
      <vt:lpstr>Arial Unicode MS</vt:lpstr>
      <vt:lpstr>Malgun Gothic</vt:lpstr>
      <vt:lpstr>等线</vt:lpstr>
      <vt:lpstr>5_Office Theme</vt:lpstr>
      <vt:lpstr>           Fit Mirror-Virtual Shirt Try-On   </vt:lpstr>
      <vt:lpstr>Problem Statement</vt:lpstr>
      <vt:lpstr>Product/ Solution - Innovation</vt:lpstr>
      <vt:lpstr>Product/ Solution - Innovation</vt:lpstr>
      <vt:lpstr>Product/ Solution - Innovation</vt:lpstr>
      <vt:lpstr>Product/ Solution - Readiness Level</vt:lpstr>
      <vt:lpstr>Product/ Solution - Readiness Level</vt:lpstr>
      <vt:lpstr>Product/ Solution - Readiness Level</vt:lpstr>
      <vt:lpstr>Team Size, Background, Strength /Capability and Resources</vt:lpstr>
      <vt:lpstr>Team Size, Background, Strength /Capability and Resources</vt:lpstr>
      <vt:lpstr>Team Size, Background, Strength /Capability and Resources</vt:lpstr>
      <vt:lpstr>Market Landscape - Market Potential, Competitors</vt:lpstr>
      <vt:lpstr>Market Landscape - Market Potential, Competitors</vt:lpstr>
      <vt:lpstr>Business Model &amp; Strategy</vt:lpstr>
      <vt:lpstr>Business Model &amp; Strategy</vt:lpstr>
      <vt:lpstr>Business Model &amp; Strategy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template of PPT -  Application for Pitching</dc:title>
  <dc:creator>Admin</dc:creator>
  <cp:lastModifiedBy>Satrasala Yashwanth</cp:lastModifiedBy>
  <cp:revision>6</cp:revision>
  <dcterms:created xsi:type="dcterms:W3CDTF">2017-07-03T16:53:00Z</dcterms:created>
  <dcterms:modified xsi:type="dcterms:W3CDTF">2025-12-12T18:28:13Z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5E37B4860F8845909CFF9F4A7C422B08_13</vt:lpwstr>
  </property>
  <property fmtid="{D5CDD505-2E9C-101B-9397-08002B2CF9AE}" pid="3" name="KSOProductBuildVer">
    <vt:lpwstr>1033-12.2.0.23155</vt:lpwstr>
  </property>
</Properties>
</file>